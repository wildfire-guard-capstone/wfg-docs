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2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7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9"/>
  </p:notesMasterIdLst>
  <p:sldIdLst>
    <p:sldId id="256" r:id="rId2"/>
    <p:sldId id="264" r:id="rId3"/>
    <p:sldId id="293" r:id="rId6"/>
    <p:sldId id="294" r:id="rId7"/>
    <p:sldId id="295" r:id="rId8"/>
    <p:sldId id="292" r:id="rId9"/>
    <p:sldId id="314" r:id="rId10"/>
    <p:sldId id="298" r:id="rId11"/>
    <p:sldId id="291" r:id="rId12"/>
    <p:sldId id="299" r:id="rId13"/>
    <p:sldId id="290" r:id="rId14"/>
    <p:sldId id="300" r:id="rId15"/>
    <p:sldId id="315" r:id="rId16"/>
    <p:sldId id="267" r:id="rId17"/>
    <p:sldId id="265" r:id="rId18"/>
    <p:sldId id="281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268" r:id="rId30"/>
    <p:sldId id="266" r:id="rId31"/>
    <p:sldId id="317" r:id="rId52"/>
    <p:sldId id="270" r:id="rId32"/>
    <p:sldId id="316" r:id="rId33"/>
    <p:sldId id="269" r:id="rId34"/>
    <p:sldId id="272" r:id="rId35"/>
    <p:sldId id="311" r:id="rId36"/>
    <p:sldId id="273" r:id="rId37"/>
    <p:sldId id="263" r:id="rId38"/>
  </p:sldIdLst>
  <p:sldSz cx="18288000" cy="10287000"/>
  <p:notesSz cx="6858000" cy="9144000"/>
  <p:embeddedFontLst>
    <p:embeddedFont>
      <p:font typeface="210 OmniGothic 030" panose="020B0600000101010101" charset="-127"/>
      <p:regular r:id="rId40"/>
    </p:embeddedFont>
    <p:embeddedFont>
      <p:font typeface="210 OmniGothic 040" panose="020B0600000101010101" charset="-127"/>
      <p:regular r:id="rId41"/>
    </p:embeddedFont>
    <p:embeddedFont>
      <p:font typeface="210 OmniGothic 050" panose="020B0600000101010101" charset="-127"/>
      <p:regular r:id="rId42"/>
    </p:embeddedFont>
    <p:embeddedFont>
      <p:font typeface="Pretendard Bold" panose="020B0600000101010101" charset="-127"/>
      <p:bold r:id="rId43"/>
    </p:embeddedFont>
    <p:embeddedFont>
      <p:font typeface="Pretendard Light" panose="020B0600000101010101" charset="-127"/>
      <p:regular r:id="rId44"/>
    </p:embeddedFont>
    <p:embeddedFont>
      <p:font typeface="맑은 고딕" panose="020B0503020000020004" pitchFamily="50" charset="-127"/>
      <p:regular r:id="rId45"/>
      <p:bold r:id="rId46"/>
    </p:embeddedFont>
    <p:embeddedFont>
      <p:font typeface="맑은 고딕" panose="020B0503020000020004" pitchFamily="50" charset="-127"/>
      <p:regular r:id="rId45"/>
      <p:bold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A95A"/>
    <a:srgbClr val="FFFFFF"/>
    <a:srgbClr val="363A5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" dt="2026-09-17T02:51:04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3411" autoAdjust="0"/>
  </p:normalViewPr>
  <p:slideViewPr>
    <p:cSldViewPr>
      <p:cViewPr varScale="1">
        <p:scale>
          <a:sx n="52" d="100"/>
          <a:sy n="52" d="100"/>
        </p:scale>
        <p:origin x="211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font" Target="fonts/font4.fntdata"/><Relationship Id="rId44" Type="http://schemas.openxmlformats.org/officeDocument/2006/relationships/font" Target="fonts/font5.fntdata"/><Relationship Id="rId45" Type="http://schemas.openxmlformats.org/officeDocument/2006/relationships/font" Target="fonts/font6.fntdata"/><Relationship Id="rId46" Type="http://schemas.openxmlformats.org/officeDocument/2006/relationships/font" Target="fonts/font7.fntdata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microsoft.com/office/2015/10/relationships/revisionInfo" Target="revisionInfo.xml"/><Relationship Id="rId52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0C271-8C02-4EB7-99D8-094B235E4CEA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F5CA6-C40D-4640-B383-8E9A5F21C2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92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717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13C4C-6E46-5649-EA76-E4C18F67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EDB000-6B89-59B7-E69C-48AAFA2FB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13755C-CD9E-C603-2510-FD4022890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874DF-0ADC-50EC-FE4E-80F8645B9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686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4BA4-3EB3-E5F5-A19F-DE524E3D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E2869F-D25E-E2DA-8122-90F820247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B0FA19-2287-C538-6FA5-A566DC5D3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C9E2A8-630E-98A3-8E56-83350B365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862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786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12B67-67F5-2E55-B855-DB9147D73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603128-A4DC-2F71-E52D-07555B15E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18AD50-E32C-5A58-3C89-A704C85C7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D6C3CA-DD93-E037-14D3-E4335D0C4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766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E3CD1-B36F-C59A-4C57-A10570623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D7AE0C-8C17-E220-1701-D665BEACB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6F8AC-CB4F-737D-E7B4-1E48F1E50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4CC51B-A371-3776-561E-65B9B1344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864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87674-BF19-D9A4-FFBD-52C46F01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5055DC-2F03-2E6C-D94B-6C3B9A144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0E78E4-546E-A048-D37C-440242A2E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E1935D-C343-A2AB-F058-134B999C7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34866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7E13E-C63F-4D0B-BB23-D1F2A91FB568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EEC63-120E-4E59-8607-E1749C0E89F9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E3DD-F0A3-4F64-AA99-B4E912018FCA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8869-110A-41B2-8B60-C1668D7B64C0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72D2-F99A-4934-9072-4110418249BD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C468B-20E3-407E-85A7-522E1433ED6A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48AA-889C-443B-A93D-38FE1CFA7516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63A5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>
              <a:solidFill>
                <a:srgbClr val="363A5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D5943-17CB-412C-A291-60B219F832C8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0CD2-5E56-44C1-A1EF-E4FA14BF99E8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41CA-56D6-49C1-9EA6-589A66A6D619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F63-390B-4AA7-B117-B22D9F851814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25D06-E58F-424F-8E85-775C648B2EFD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Relationship Id="rId7" Type="http://schemas.openxmlformats.org/officeDocument/2006/relationships/image" Target="../media/image6.svg"/><Relationship Id="rId8" Type="http://schemas.openxmlformats.org/officeDocument/2006/relationships/image" Target="../media/image7.svg"/><Relationship Id="rId9" Type="http://schemas.openxmlformats.org/officeDocument/2006/relationships/image" Target="../media/image8.svg"/><Relationship Id="rId10" Type="http://schemas.openxmlformats.org/officeDocument/2006/relationships/image" Target="../media/image9.svg"/><Relationship Id="rId11" Type="http://schemas.openxmlformats.org/officeDocument/2006/relationships/image" Target="../media/image10.sv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5.svg"/><Relationship Id="rId5" Type="http://schemas.openxmlformats.org/officeDocument/2006/relationships/image" Target="../media/image14.sv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5.svg"/><Relationship Id="rId5" Type="http://schemas.openxmlformats.org/officeDocument/2006/relationships/image" Target="../media/image14.sv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5.svg"/><Relationship Id="rId5" Type="http://schemas.openxmlformats.org/officeDocument/2006/relationships/image" Target="../media/image14.svg"/><Relationship Id="rId6" Type="http://schemas.openxmlformats.org/officeDocument/2006/relationships/image" Target="../media/image21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5.svg"/><Relationship Id="rId5" Type="http://schemas.openxmlformats.org/officeDocument/2006/relationships/image" Target="../media/image14.svg"/><Relationship Id="rId6" Type="http://schemas.openxmlformats.org/officeDocument/2006/relationships/image" Target="../media/image22.svg"/><Relationship Id="rId7" Type="http://schemas.openxmlformats.org/officeDocument/2006/relationships/image" Target="../media/image2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5.svg"/><Relationship Id="rId5" Type="http://schemas.openxmlformats.org/officeDocument/2006/relationships/image" Target="../media/image14.svg"/><Relationship Id="rId6" Type="http://schemas.openxmlformats.org/officeDocument/2006/relationships/image" Target="../media/image21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5.svg"/><Relationship Id="rId5" Type="http://schemas.openxmlformats.org/officeDocument/2006/relationships/image" Target="../media/image14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4.svg"/><Relationship Id="rId4" Type="http://schemas.openxmlformats.org/officeDocument/2006/relationships/image" Target="../media/image24.svg"/><Relationship Id="rId5" Type="http://schemas.openxmlformats.org/officeDocument/2006/relationships/image" Target="../media/image25.png"/><Relationship Id="rId6" Type="http://schemas.openxmlformats.org/officeDocument/2006/relationships/image" Target="../media/image3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24.svg"/><Relationship Id="rId4" Type="http://schemas.openxmlformats.org/officeDocument/2006/relationships/image" Target="../media/image14.svg"/><Relationship Id="rId5" Type="http://schemas.openxmlformats.org/officeDocument/2006/relationships/image" Target="../media/image21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24.svg"/><Relationship Id="rId4" Type="http://schemas.openxmlformats.org/officeDocument/2006/relationships/image" Target="../media/image14.svg"/><Relationship Id="rId5" Type="http://schemas.openxmlformats.org/officeDocument/2006/relationships/image" Target="../media/image26.png"/><Relationship Id="rId6" Type="http://schemas.openxmlformats.org/officeDocument/2006/relationships/image" Target="../media/image3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svg"/><Relationship Id="rId3" Type="http://schemas.openxmlformats.org/officeDocument/2006/relationships/image" Target="../media/image12.svg"/><Relationship Id="rId4" Type="http://schemas.openxmlformats.org/officeDocument/2006/relationships/image" Target="../media/image24.svg"/><Relationship Id="rId5" Type="http://schemas.openxmlformats.org/officeDocument/2006/relationships/image" Target="../media/image14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svg"/><Relationship Id="rId3" Type="http://schemas.openxmlformats.org/officeDocument/2006/relationships/image" Target="../media/image12.svg"/><Relationship Id="rId4" Type="http://schemas.openxmlformats.org/officeDocument/2006/relationships/image" Target="../media/image24.svg"/><Relationship Id="rId5" Type="http://schemas.openxmlformats.org/officeDocument/2006/relationships/image" Target="../media/image14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24.svg"/><Relationship Id="rId4" Type="http://schemas.openxmlformats.org/officeDocument/2006/relationships/image" Target="../media/image14.svg"/><Relationship Id="rId5" Type="http://schemas.openxmlformats.org/officeDocument/2006/relationships/image" Target="../media/image21.svg"/><Relationship Id="rId6" Type="http://schemas.openxmlformats.org/officeDocument/2006/relationships/image" Target="../media/image27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24.svg"/><Relationship Id="rId4" Type="http://schemas.openxmlformats.org/officeDocument/2006/relationships/image" Target="../media/image14.svg"/><Relationship Id="rId5" Type="http://schemas.openxmlformats.org/officeDocument/2006/relationships/image" Target="../media/image21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24.svg"/><Relationship Id="rId4" Type="http://schemas.openxmlformats.org/officeDocument/2006/relationships/image" Target="../media/image14.svg"/><Relationship Id="rId5" Type="http://schemas.openxmlformats.org/officeDocument/2006/relationships/image" Target="../media/image21.svg"/><Relationship Id="rId6" Type="http://schemas.openxmlformats.org/officeDocument/2006/relationships/image" Target="../media/image3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24.svg"/><Relationship Id="rId4" Type="http://schemas.openxmlformats.org/officeDocument/2006/relationships/image" Target="../media/image14.svg"/><Relationship Id="rId5" Type="http://schemas.openxmlformats.org/officeDocument/2006/relationships/image" Target="../media/image21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svg"/><Relationship Id="rId4" Type="http://schemas.openxmlformats.org/officeDocument/2006/relationships/image" Target="../media/image24.svg"/><Relationship Id="rId5" Type="http://schemas.openxmlformats.org/officeDocument/2006/relationships/image" Target="../media/image14.svg"/><Relationship Id="rId6" Type="http://schemas.openxmlformats.org/officeDocument/2006/relationships/image" Target="../media/image21.svg"/><Relationship Id="rId7" Type="http://schemas.openxmlformats.org/officeDocument/2006/relationships/image" Target="../media/image28.svg"/><Relationship Id="rId8" Type="http://schemas.openxmlformats.org/officeDocument/2006/relationships/image" Target="../media/image3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svg"/><Relationship Id="rId4" Type="http://schemas.openxmlformats.org/officeDocument/2006/relationships/image" Target="../media/image24.svg"/><Relationship Id="rId5" Type="http://schemas.openxmlformats.org/officeDocument/2006/relationships/image" Target="../media/image14.svg"/><Relationship Id="rId6" Type="http://schemas.openxmlformats.org/officeDocument/2006/relationships/image" Target="../media/image21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svg"/><Relationship Id="rId4" Type="http://schemas.openxmlformats.org/officeDocument/2006/relationships/image" Target="../media/image24.svg"/><Relationship Id="rId5" Type="http://schemas.openxmlformats.org/officeDocument/2006/relationships/image" Target="../media/image14.svg"/><Relationship Id="rId6" Type="http://schemas.openxmlformats.org/officeDocument/2006/relationships/image" Target="../media/image21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svg"/><Relationship Id="rId4" Type="http://schemas.openxmlformats.org/officeDocument/2006/relationships/image" Target="../media/image12.svg"/><Relationship Id="rId5" Type="http://schemas.openxmlformats.org/officeDocument/2006/relationships/image" Target="../media/image29.png"/><Relationship Id="rId6" Type="http://schemas.openxmlformats.org/officeDocument/2006/relationships/image" Target="../media/image14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svg"/><Relationship Id="rId4" Type="http://schemas.openxmlformats.org/officeDocument/2006/relationships/image" Target="../media/image14.svg"/><Relationship Id="rId5" Type="http://schemas.openxmlformats.org/officeDocument/2006/relationships/image" Target="../media/image30.svg"/><Relationship Id="rId6" Type="http://schemas.openxmlformats.org/officeDocument/2006/relationships/image" Target="../media/image13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22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svg"/><Relationship Id="rId4" Type="http://schemas.openxmlformats.org/officeDocument/2006/relationships/image" Target="../media/image14.svg"/><Relationship Id="rId5" Type="http://schemas.openxmlformats.org/officeDocument/2006/relationships/image" Target="../media/image21.svg"/><Relationship Id="rId6" Type="http://schemas.openxmlformats.org/officeDocument/2006/relationships/image" Target="../media/image13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svg"/><Relationship Id="rId4" Type="http://schemas.openxmlformats.org/officeDocument/2006/relationships/image" Target="../media/image14.svg"/><Relationship Id="rId5" Type="http://schemas.openxmlformats.org/officeDocument/2006/relationships/image" Target="../media/image21.svg"/><Relationship Id="rId6" Type="http://schemas.openxmlformats.org/officeDocument/2006/relationships/image" Target="../media/image30.svg"/><Relationship Id="rId7" Type="http://schemas.openxmlformats.org/officeDocument/2006/relationships/image" Target="../media/image13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4.svg"/><Relationship Id="rId5" Type="http://schemas.openxmlformats.org/officeDocument/2006/relationships/image" Target="../media/image3.svg"/><Relationship Id="rId6" Type="http://schemas.openxmlformats.org/officeDocument/2006/relationships/image" Target="../media/image5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8100" y="-2324100"/>
            <a:ext cx="18326100" cy="11264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49000" y="3759200"/>
            <a:ext cx="304800" cy="30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090900" y="3098800"/>
            <a:ext cx="812800" cy="939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88700" y="2120900"/>
            <a:ext cx="190500" cy="19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014700" y="1917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3487400" y="1612900"/>
            <a:ext cx="266700" cy="2667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866900" y="6654800"/>
            <a:ext cx="7480300" cy="381000"/>
          </a:xfrm>
          <a:prstGeom prst="rect">
            <a:avLst/>
          </a:prstGeom>
        </p:spPr>
        <p:txBody>
          <a:bodyPr lIns="0" tIns="25399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999" dirty="0">
                <a:solidFill>
                  <a:srgbClr val="363A52"/>
                </a:solidFill>
                <a:latin typeface="Pretendard Light"/>
                <a:ea typeface="Pretendard Light"/>
                <a:cs typeface="Pretendard Light"/>
              </a:rPr>
              <a:t>황승준 </a:t>
            </a:r>
            <a:r>
              <a:rPr lang="ko-KR" altLang="en-US" sz="1999" dirty="0" err="1">
                <a:solidFill>
                  <a:srgbClr val="363A52"/>
                </a:solidFill>
                <a:latin typeface="Pretendard Light"/>
                <a:ea typeface="Pretendard Light"/>
                <a:cs typeface="Pretendard Light"/>
              </a:rPr>
              <a:t>김지오</a:t>
            </a:r>
            <a:r>
              <a:rPr lang="ko-KR" altLang="en-US" sz="1999" dirty="0">
                <a:solidFill>
                  <a:srgbClr val="363A52"/>
                </a:solidFill>
                <a:latin typeface="Pretendard Light"/>
                <a:ea typeface="Pretendard Light"/>
                <a:cs typeface="Pretendard Light"/>
              </a:rPr>
              <a:t> 홍준서 임성민</a:t>
            </a:r>
            <a:endParaRPr lang="en-US" sz="1999" b="0" i="0" u="none" strike="noStrike" dirty="0">
              <a:solidFill>
                <a:srgbClr val="363A52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66900" y="6096000"/>
            <a:ext cx="7505700" cy="482600"/>
          </a:xfrm>
          <a:prstGeom prst="rect">
            <a:avLst/>
          </a:prstGeom>
        </p:spPr>
        <p:txBody>
          <a:bodyPr lIns="0" tIns="33019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25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5</a:t>
            </a:r>
            <a:r>
              <a:rPr lang="ko-KR" altLang="en-US" sz="25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</a:t>
            </a:r>
            <a:r>
              <a:rPr lang="en-US" sz="25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ko-KR" altLang="en-US" sz="2599" b="0" i="0" u="none" strike="noStrike" spc="-100" dirty="0" err="1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산불조심하조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89100" y="3022600"/>
            <a:ext cx="6946900" cy="1739900"/>
          </a:xfrm>
          <a:prstGeom prst="rect">
            <a:avLst/>
          </a:prstGeom>
        </p:spPr>
        <p:txBody>
          <a:bodyPr lIns="0" tIns="121917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9599" b="0" i="0" u="none" strike="noStrike" spc="-3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산불 대응 </a:t>
            </a:r>
            <a:r>
              <a:rPr lang="en-US" altLang="ko-KR" sz="9599" b="0" i="0" u="none" strike="noStrike" spc="-3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AI</a:t>
            </a:r>
            <a:endParaRPr lang="en-US" sz="9599" b="0" i="0" u="none" strike="noStrike" spc="-3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892300" y="2336800"/>
            <a:ext cx="7543800" cy="673100"/>
          </a:xfrm>
          <a:prstGeom prst="rect">
            <a:avLst/>
          </a:prstGeom>
        </p:spPr>
        <p:txBody>
          <a:bodyPr lIns="0" tIns="45719" rIns="0" bIns="45719" rtlCol="0" anchor="ctr"/>
          <a:lstStyle/>
          <a:p>
            <a:pPr lvl="0" algn="l">
              <a:lnSpc>
                <a:spcPct val="99600"/>
              </a:lnSpc>
            </a:pPr>
            <a:r>
              <a:rPr lang="en-US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2026</a:t>
            </a:r>
            <a:r>
              <a:rPr lang="ko-KR" altLang="en-US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학년도 </a:t>
            </a:r>
            <a:r>
              <a:rPr lang="en-US" altLang="ko-KR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r>
              <a:rPr lang="ko-KR" altLang="en-US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학기 </a:t>
            </a:r>
            <a:r>
              <a:rPr lang="en-US" altLang="ko-KR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Capstone Design</a:t>
            </a:r>
            <a:endParaRPr lang="en-US" sz="35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96FEA-C9A3-7C34-2A6F-0739A93EA5B2}"/>
              </a:ext>
            </a:extLst>
          </p:cNvPr>
          <p:cNvSpPr txBox="1"/>
          <p:nvPr/>
        </p:nvSpPr>
        <p:spPr>
          <a:xfrm>
            <a:off x="1600200" y="4602490"/>
            <a:ext cx="9131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2800"/>
              </a:spcBef>
              <a:spcAft>
                <a:spcPts val="600"/>
              </a:spcAft>
              <a:buNone/>
            </a:pPr>
            <a:r>
              <a:rPr lang="ko-KR" altLang="ko-KR" sz="2800" b="1" dirty="0">
                <a:solidFill>
                  <a:srgbClr val="363A52"/>
                </a:solidFill>
                <a:effectLst/>
                <a:latin typeface="+mn-lt"/>
                <a:ea typeface="맑은 고딕" panose="020B0503020000020004" pitchFamily="50" charset="-127"/>
                <a:cs typeface="맑은 고딕" panose="020B0503020000020004" pitchFamily="50" charset="-127"/>
              </a:rPr>
              <a:t>확산 예측과 표준매뉴얼 근거 기반 진화·대피 대응 제안</a:t>
            </a:r>
            <a:endParaRPr lang="ko-KR" altLang="ko-KR" sz="1200" dirty="0">
              <a:solidFill>
                <a:srgbClr val="363A5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11E07E-12DA-D086-F371-88ED65379275}"/>
              </a:ext>
            </a:extLst>
          </p:cNvPr>
          <p:cNvSpPr txBox="1"/>
          <p:nvPr/>
        </p:nvSpPr>
        <p:spPr>
          <a:xfrm>
            <a:off x="129843" y="9752947"/>
            <a:ext cx="1301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2800"/>
              </a:spcBef>
              <a:spcAft>
                <a:spcPts val="600"/>
              </a:spcAft>
              <a:buNone/>
            </a:pPr>
            <a:r>
              <a:rPr lang="en-US" altLang="ko-KR" b="1" dirty="0">
                <a:solidFill>
                  <a:schemeClr val="bg1"/>
                </a:solidFill>
                <a:effectLst/>
                <a:latin typeface="+mn-lt"/>
                <a:ea typeface="맑은 고딕" panose="020B0503020000020004" pitchFamily="50" charset="-127"/>
                <a:cs typeface="맑은 고딕" panose="020B0503020000020004" pitchFamily="50" charset="-127"/>
              </a:rPr>
              <a:t>2026.10.16</a:t>
            </a:r>
            <a:endParaRPr lang="ko-KR" altLang="ko-KR" sz="100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26C6C94B-339A-208C-4831-3B38CDB4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3E34727-47F9-03BC-D9BE-9F7D0FF1978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800" y="393647"/>
            <a:ext cx="1016053" cy="1016053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248666E2-7712-8001-9DD7-F072F760F5BA}"/>
              </a:ext>
            </a:extLst>
          </p:cNvPr>
          <p:cNvSpPr txBox="1"/>
          <p:nvPr/>
        </p:nvSpPr>
        <p:spPr>
          <a:xfrm>
            <a:off x="11430000" y="779727"/>
            <a:ext cx="544132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200" kern="0" spc="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WILDFIRE RESPONSE </a:t>
            </a:r>
            <a:r>
              <a:rPr lang="af-ZA" altLang="ko-KR" sz="2200" kern="0" spc="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BDA01-F59D-EA00-FDA2-C6A95413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A1BFE8A-818C-73A8-CCD9-94D316B491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1FD857E-21E5-FB5A-EADC-1CB2954322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DE48305-C77C-5B67-9E9A-661941B479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8909617A-C1EB-4391-2E1C-A27B7E57BEE2}"/>
              </a:ext>
            </a:extLst>
          </p:cNvPr>
          <p:cNvSpPr txBox="1"/>
          <p:nvPr/>
        </p:nvSpPr>
        <p:spPr>
          <a:xfrm>
            <a:off x="825500" y="469900"/>
            <a:ext cx="72517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목차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0578D96C-BFBC-B5FD-7D6D-41B3188C0677}"/>
              </a:ext>
            </a:extLst>
          </p:cNvPr>
          <p:cNvGrpSpPr/>
          <p:nvPr/>
        </p:nvGrpSpPr>
        <p:grpSpPr>
          <a:xfrm>
            <a:off x="1676400" y="2755900"/>
            <a:ext cx="15011400" cy="5537200"/>
            <a:chOff x="4876800" y="2959100"/>
            <a:chExt cx="10261600" cy="4238124"/>
          </a:xfrm>
        </p:grpSpPr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69B7B54-E475-DF39-28F4-44962A3DAE24}"/>
                </a:ext>
              </a:extLst>
            </p:cNvPr>
            <p:cNvSpPr txBox="1"/>
            <p:nvPr/>
          </p:nvSpPr>
          <p:spPr>
            <a:xfrm>
              <a:off x="4876800" y="2959100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1.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개발 배경 및 중요성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11" name="TextBox 15">
              <a:extLst>
                <a:ext uri="{FF2B5EF4-FFF2-40B4-BE49-F238E27FC236}">
                  <a16:creationId xmlns:a16="http://schemas.microsoft.com/office/drawing/2014/main" id="{CF8AC6D3-5B16-49AC-AF0C-342A4EC13B22}"/>
                </a:ext>
              </a:extLst>
            </p:cNvPr>
            <p:cNvSpPr txBox="1"/>
            <p:nvPr/>
          </p:nvSpPr>
          <p:spPr>
            <a:xfrm>
              <a:off x="4876800" y="4114132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3.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차별성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90A55529-3E03-3AC5-5A02-498BF1B72DE1}"/>
                </a:ext>
              </a:extLst>
            </p:cNvPr>
            <p:cNvSpPr txBox="1"/>
            <p:nvPr/>
          </p:nvSpPr>
          <p:spPr>
            <a:xfrm>
              <a:off x="4876800" y="5266824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5.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개발 방법 및 체계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0ECB81C1-47F1-8A6B-4CA3-AD6E3130AE87}"/>
                </a:ext>
              </a:extLst>
            </p:cNvPr>
            <p:cNvSpPr txBox="1"/>
            <p:nvPr/>
          </p:nvSpPr>
          <p:spPr>
            <a:xfrm>
              <a:off x="4876800" y="6359024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7.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기대효과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70" name="TextBox 15">
              <a:extLst>
                <a:ext uri="{FF2B5EF4-FFF2-40B4-BE49-F238E27FC236}">
                  <a16:creationId xmlns:a16="http://schemas.microsoft.com/office/drawing/2014/main" id="{4E1466BD-E1CD-9125-2122-BF2D5D588C21}"/>
                </a:ext>
              </a:extLst>
            </p:cNvPr>
            <p:cNvSpPr txBox="1"/>
            <p:nvPr/>
          </p:nvSpPr>
          <p:spPr>
            <a:xfrm>
              <a:off x="10058400" y="2959100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2.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개발 목표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72" name="TextBox 15">
              <a:extLst>
                <a:ext uri="{FF2B5EF4-FFF2-40B4-BE49-F238E27FC236}">
                  <a16:creationId xmlns:a16="http://schemas.microsoft.com/office/drawing/2014/main" id="{F31DC41F-B017-320C-2AF2-CFD3C5210078}"/>
                </a:ext>
              </a:extLst>
            </p:cNvPr>
            <p:cNvSpPr txBox="1"/>
            <p:nvPr/>
          </p:nvSpPr>
          <p:spPr>
            <a:xfrm>
              <a:off x="10058400" y="4114132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4.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활용 데이터 및 활용 방안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74" name="TextBox 15">
              <a:extLst>
                <a:ext uri="{FF2B5EF4-FFF2-40B4-BE49-F238E27FC236}">
                  <a16:creationId xmlns:a16="http://schemas.microsoft.com/office/drawing/2014/main" id="{697FFC96-B3E3-30AD-E44C-3AF676421AD8}"/>
                </a:ext>
              </a:extLst>
            </p:cNvPr>
            <p:cNvSpPr txBox="1"/>
            <p:nvPr/>
          </p:nvSpPr>
          <p:spPr>
            <a:xfrm>
              <a:off x="10058400" y="5266824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6.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개발 추진 계획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</p:grp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4DDFF1-62F1-2381-0752-38ED3A77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25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1416-DAF5-1A7B-4E1B-1D4C6D74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53C1585-55A8-F559-9F8E-5963B9BCCE5B}"/>
              </a:ext>
            </a:extLst>
          </p:cNvPr>
          <p:cNvSpPr txBox="1"/>
          <p:nvPr/>
        </p:nvSpPr>
        <p:spPr>
          <a:xfrm>
            <a:off x="6197358" y="4705350"/>
            <a:ext cx="5880583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1.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개발 배경 및 중요성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FDCC83-4678-2AF5-EE61-36CA6AF7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1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A376F77-C743-2AF0-D88C-6D46E9BD92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55" y="3746273"/>
            <a:ext cx="10355944" cy="5869669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837509" y="205703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산불은 덜 발생해도, 한 번의 피해는 </a:t>
            </a:r>
            <a:r>
              <a:rPr lang="ko-KR" altLang="en-US" sz="4000" b="1" spc="-100" dirty="0">
                <a:solidFill>
                  <a:srgbClr val="FAA95A"/>
                </a:solidFill>
                <a:latin typeface="210 OmniGothic 040"/>
                <a:ea typeface="210 OmniGothic 040"/>
              </a:rPr>
              <a:t>더 커지고 있다.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5500" y="469900"/>
            <a:ext cx="9218386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1. </a:t>
            </a:r>
            <a:r>
              <a:rPr lang="ko-KR" altLang="en-US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개발 배경 및 중요성</a:t>
            </a:r>
            <a:endParaRPr lang="ko-KR" altLang="en-US" sz="4750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Calibri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FB409B1-C61A-51BE-D3DA-4128374964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3886" y="3292702"/>
            <a:ext cx="8069944" cy="4545241"/>
          </a:xfrm>
          <a:prstGeom prst="rect">
            <a:avLst/>
          </a:prstGeom>
        </p:spPr>
      </p:pic>
      <p:sp>
        <p:nvSpPr>
          <p:cNvPr id="36" name="TextBox 21">
            <a:extLst>
              <a:ext uri="{FF2B5EF4-FFF2-40B4-BE49-F238E27FC236}">
                <a16:creationId xmlns:a16="http://schemas.microsoft.com/office/drawing/2014/main" id="{20F8EEF1-CBE0-DCE4-8300-D571C33F54F5}"/>
              </a:ext>
            </a:extLst>
          </p:cNvPr>
          <p:cNvSpPr txBox="1"/>
          <p:nvPr/>
        </p:nvSpPr>
        <p:spPr>
          <a:xfrm>
            <a:off x="1447800" y="3746273"/>
            <a:ext cx="10299700" cy="153307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발생 건수는 최근 10년 평균보다 적었지만,</a:t>
            </a:r>
            <a:endParaRPr lang="en-US" altLang="ko-KR" dirty="0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pPr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FAA95A"/>
                </a:solidFill>
                <a:latin typeface="210 OmniGothic 040"/>
                <a:ea typeface="210 OmniGothic 040"/>
              </a:rPr>
              <a:t>피해면적은 약 7.3배</a:t>
            </a:r>
            <a:endParaRPr lang="en-US" altLang="ko-KR" dirty="0">
              <a:ea typeface="맑은 고딕"/>
              <a:cs typeface="Calibri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FED9F41E-2F6E-3DA7-9061-969D8E2574B1}"/>
              </a:ext>
            </a:extLst>
          </p:cNvPr>
          <p:cNvSpPr txBox="1"/>
          <p:nvPr/>
        </p:nvSpPr>
        <p:spPr>
          <a:xfrm>
            <a:off x="823686" y="8470174"/>
            <a:ext cx="5080000" cy="54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16199"/>
              </a:lnSpc>
            </a:pPr>
            <a:r>
              <a:rPr lang="ko-KR" altLang="en-US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출처 </a:t>
            </a:r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: </a:t>
            </a:r>
            <a:r>
              <a:rPr lang="ko-KR" altLang="en-US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산림청 산불발생통계서비스 </a:t>
            </a:r>
            <a:endParaRPr lang="ko-KR" altLang="en-US" sz="1600">
              <a:latin typeface="210 OmniGothic 050"/>
              <a:ea typeface="210 OmniGothic 05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1334108-5F75-A1E6-CCFE-8EACE21DE672}"/>
              </a:ext>
            </a:extLst>
          </p:cNvPr>
          <p:cNvSpPr txBox="1"/>
          <p:nvPr/>
        </p:nvSpPr>
        <p:spPr>
          <a:xfrm>
            <a:off x="823686" y="8774974"/>
            <a:ext cx="5080000" cy="54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16199"/>
              </a:lnSpc>
            </a:pPr>
            <a:r>
              <a:rPr lang="ko-KR" altLang="en-US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Calibri"/>
              </a:rPr>
              <a:t>시각자료 제작</a:t>
            </a:r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: 생성형 AI 활용</a:t>
            </a:r>
            <a:endParaRPr lang="en-US" sz="1600" spc="-100" dirty="0">
              <a:solidFill>
                <a:srgbClr val="363A52"/>
              </a:solidFill>
              <a:latin typeface="210 OmniGothic 050"/>
              <a:ea typeface="210 OmniGothic 050"/>
            </a:endParaRPr>
          </a:p>
        </p:txBody>
      </p:sp>
    </p:spTree>
    <p:extLst>
      <p:ext uri="{BB962C8B-B14F-4D97-AF65-F5344CB8AC3E}">
        <p14:creationId xmlns:p14="http://schemas.microsoft.com/office/powerpoint/2010/main" val="122086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617C-E0DE-EC60-555A-F44F8D1E2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A9A071A-EC07-26E3-C296-6893F20ED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4E9B0E9-C7CD-9062-A801-3611BF9E4F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30AF172-5B16-3193-C1C1-B1C50AB31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71F297F-B0EB-8A19-4DD7-8348D099B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27A31018-EF7F-1B01-4213-D1FEDE2591FB}"/>
              </a:ext>
            </a:extLst>
          </p:cNvPr>
          <p:cNvSpPr txBox="1"/>
          <p:nvPr/>
        </p:nvSpPr>
        <p:spPr>
          <a:xfrm>
            <a:off x="825500" y="469900"/>
            <a:ext cx="86233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1. </a:t>
            </a:r>
            <a:r>
              <a:rPr lang="ko-KR" altLang="en-US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개발 배경 및 중요성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0033CE1-4D30-A749-32CC-57314FE7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22960" y="1810512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통합지휘권자는 </a:t>
            </a:r>
            <a:r>
              <a:rPr lang="ko-KR" altLang="en-US" sz="30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흩어진 정보</a:t>
            </a:r>
            <a:r>
              <a:rPr lang="ko-KR" altLang="en-US" sz="30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와 </a:t>
            </a:r>
            <a:r>
              <a:rPr lang="ko-KR" altLang="en-US" sz="30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100쪽 넘는 매뉴얼</a:t>
            </a:r>
            <a:r>
              <a:rPr lang="ko-KR" altLang="en-US" sz="30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 판단해야 한다</a:t>
            </a:r>
            <a:endParaRPr lang="ko-KR" altLang="en-US" sz="3000"/>
          </a:p>
        </p:txBody>
      </p:sp>
      <p:sp>
        <p:nvSpPr>
          <p:cNvPr id="24" name="Rounded Rectangle 23"/>
          <p:cNvSpPr/>
          <p:nvPr/>
        </p:nvSpPr>
        <p:spPr>
          <a:xfrm>
            <a:off x="822960" y="2743200"/>
            <a:ext cx="8183880" cy="3703320"/>
          </a:xfrm>
          <a:prstGeom prst="roundRect">
            <a:avLst>
              <a:gd name="adj" fmla="val 4444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2999232"/>
            <a:ext cx="75438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문제 ①  기관별로 분산된 자원·상황정보</a:t>
            </a:r>
            <a:endParaRPr lang="ko-KR" altLang="en-US" sz="2200"/>
          </a:p>
        </p:txBody>
      </p:sp>
      <p:sp>
        <p:nvSpPr>
          <p:cNvPr id="26" name="TextBox 25"/>
          <p:cNvSpPr txBox="1"/>
          <p:nvPr/>
        </p:nvSpPr>
        <p:spPr>
          <a:xfrm>
            <a:off x="1143000" y="3537712"/>
            <a:ext cx="7543800" cy="27259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공중진화와 지상진화가 따로 작전, 산림은 산림청 · 민가는 소방청이 맡는 이원화 체계</a:t>
            </a:r>
            <a:endParaRPr lang="ko-KR" altLang="en-US" sz="1700"/>
          </a:p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기관별로 운영하는 진화헬기의 통합 운용이 과제로 제기됨</a:t>
            </a:r>
            <a:endParaRPr lang="ko-KR" altLang="en-US" sz="1700"/>
          </a:p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 예측은 별도 시스템 — 2025년 영남권 산불에서 예측을 대응에 반영하는 작업이 확산 속도를 따라가지 못함</a:t>
            </a:r>
            <a:endParaRPr lang="ko-KR" altLang="en-US" sz="1700"/>
          </a:p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국회입법조사처 산불대응연구TF(2025.6) p.22·25 · YTN(2025.4.9)</a:t>
            </a:r>
            <a:endParaRPr lang="ko-KR" altLang="en-US" sz="1250"/>
          </a:p>
        </p:txBody>
      </p:sp>
      <p:sp>
        <p:nvSpPr>
          <p:cNvPr id="27" name="Rounded Rectangle 26"/>
          <p:cNvSpPr/>
          <p:nvPr/>
        </p:nvSpPr>
        <p:spPr>
          <a:xfrm>
            <a:off x="9281160" y="2743200"/>
            <a:ext cx="8183880" cy="3703320"/>
          </a:xfrm>
          <a:prstGeom prst="roundRect">
            <a:avLst>
              <a:gd name="adj" fmla="val 4444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2999232"/>
            <a:ext cx="75438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문제 ②  통합지휘권자의 전문성 한계</a:t>
            </a:r>
            <a:endParaRPr lang="ko-KR" altLang="en-US" sz="2200"/>
          </a:p>
        </p:txBody>
      </p:sp>
      <p:sp>
        <p:nvSpPr>
          <p:cNvPr id="29" name="TextBox 28"/>
          <p:cNvSpPr txBox="1"/>
          <p:nvPr/>
        </p:nvSpPr>
        <p:spPr>
          <a:xfrm>
            <a:off x="9601200" y="3537712"/>
            <a:ext cx="7543800" cy="27259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현장 통합지휘와 주민대피 명령권은 시장·군수·구청장에게 있음(표준매뉴얼 p.72·84)</a:t>
            </a:r>
            <a:endParaRPr lang="ko-KR" altLang="en-US" sz="1700"/>
          </a:p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 현장 경험이 거의 없는 지자체장에게 지휘권이 주어져 대응에 한계(TF p.20)</a:t>
            </a:r>
            <a:endParaRPr lang="ko-KR" altLang="en-US" sz="1700"/>
          </a:p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어느 구역에 어떤 자원을, 어느 마을을 언제 — 종합 해석이 필요하고 맞는 조항을 찾기 어려움</a:t>
            </a:r>
            <a:endParaRPr lang="ko-KR" altLang="en-US" sz="1700"/>
          </a:p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국회입법조사처 산불대응연구TF(2025.6) · 「산불 재난」 위기관리 표준매뉴얼</a:t>
            </a:r>
            <a:endParaRPr lang="ko-KR" altLang="en-US" sz="1250"/>
          </a:p>
        </p:txBody>
      </p:sp>
      <p:sp>
        <p:nvSpPr>
          <p:cNvPr id="30" name="TextBox 29"/>
          <p:cNvSpPr txBox="1"/>
          <p:nvPr/>
        </p:nvSpPr>
        <p:spPr>
          <a:xfrm>
            <a:off x="822960" y="6675120"/>
            <a:ext cx="1664208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비어 있는 것은 예측도 규칙도 아닙니다</a:t>
            </a:r>
            <a:endParaRPr lang="ko-KR" altLang="en-US" sz="2000"/>
          </a:p>
        </p:txBody>
      </p:sp>
      <p:sp>
        <p:nvSpPr>
          <p:cNvPr id="31" name="Rounded Rectangle 30"/>
          <p:cNvSpPr/>
          <p:nvPr/>
        </p:nvSpPr>
        <p:spPr>
          <a:xfrm>
            <a:off x="822960" y="7269480"/>
            <a:ext cx="534924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5D8E0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   </a:t>
            </a:r>
            <a:r>
              <a:rPr lang="ko-KR" altLang="en-US" sz="19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있음</a:t>
            </a:r>
            <a:endParaRPr lang="ko-KR" altLang="en-US" sz="140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산불확산예측시스템 등 국가 시스템</a:t>
            </a:r>
            <a:endParaRPr lang="ko-KR" altLang="en-US" sz="1400"/>
          </a:p>
        </p:txBody>
      </p:sp>
      <p:sp>
        <p:nvSpPr>
          <p:cNvPr id="32" name="Rounded Rectangle 31"/>
          <p:cNvSpPr/>
          <p:nvPr/>
        </p:nvSpPr>
        <p:spPr>
          <a:xfrm>
            <a:off x="6464808" y="7269480"/>
            <a:ext cx="534924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5D8E0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대응 규칙   </a:t>
            </a:r>
            <a:r>
              <a:rPr lang="ko-KR" altLang="en-US" sz="19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있음</a:t>
            </a:r>
            <a:endParaRPr lang="ko-KR" altLang="en-US" sz="140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산림재난방지법 시행령 · 표준매뉴얼</a:t>
            </a:r>
            <a:endParaRPr lang="ko-KR" altLang="en-US" sz="1400"/>
          </a:p>
        </p:txBody>
      </p:sp>
      <p:sp>
        <p:nvSpPr>
          <p:cNvPr id="33" name="Rounded Rectangle 32"/>
          <p:cNvSpPr/>
          <p:nvPr/>
        </p:nvSpPr>
        <p:spPr>
          <a:xfrm>
            <a:off x="12106656" y="7269480"/>
            <a:ext cx="5349240" cy="1691640"/>
          </a:xfrm>
          <a:prstGeom prst="roundRect">
            <a:avLst>
              <a:gd name="adj" fmla="val 8108"/>
            </a:avLst>
          </a:prstGeom>
          <a:solidFill>
            <a:srgbClr val="FAA95A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대응안 + 근거   </a:t>
            </a:r>
            <a:r>
              <a:rPr lang="ko-KR" altLang="en-US" sz="19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비어 있음 → 본 과제</a:t>
            </a:r>
            <a:endParaRPr lang="ko-KR" altLang="en-US" sz="140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판단 항목별로 「지금 무엇을 결정해야 하는가」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04448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2C64-EA29-CB4A-83AE-6F2A4990E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2">
            <a:extLst>
              <a:ext uri="{FF2B5EF4-FFF2-40B4-BE49-F238E27FC236}">
                <a16:creationId xmlns:a16="http://schemas.microsoft.com/office/drawing/2014/main" id="{E13F6686-2863-F408-771F-CB23E7DE1DE8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2036E3B-053A-DC33-C7CB-009BA548D9B1}"/>
              </a:ext>
            </a:extLst>
          </p:cNvPr>
          <p:cNvSpPr txBox="1"/>
          <p:nvPr/>
        </p:nvSpPr>
        <p:spPr>
          <a:xfrm>
            <a:off x="7454417" y="4648011"/>
            <a:ext cx="3379165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2.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개발 목표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49A043-5E17-D38C-BA4B-37F6AFBF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76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77982-AA8A-E6D4-FCEB-F62D44E58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AAD9B01-819A-4C19-5CF2-C3CD099658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14D8665-3520-5A76-264D-BA8345C1D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29DDFA7-E95D-294E-3B95-CE98E4634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FF87CC77-FB7C-6BDF-2993-7B7007895D3A}"/>
              </a:ext>
            </a:extLst>
          </p:cNvPr>
          <p:cNvSpPr txBox="1"/>
          <p:nvPr/>
        </p:nvSpPr>
        <p:spPr>
          <a:xfrm>
            <a:off x="825500" y="469900"/>
            <a:ext cx="4004129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2.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개발</a:t>
            </a: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목표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BBBE6A-4EE1-255C-2A44-09F93FC8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22960" y="1810512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흩어진 정보는 </a:t>
            </a:r>
            <a:r>
              <a:rPr lang="ko-KR" altLang="en-US" sz="30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한 지도</a:t>
            </a:r>
            <a:r>
              <a:rPr lang="ko-KR" altLang="en-US" sz="30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에, 판단은 </a:t>
            </a:r>
            <a:r>
              <a:rPr lang="ko-KR" altLang="en-US" sz="30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근거와 함께</a:t>
            </a:r>
            <a:endParaRPr lang="ko-KR" altLang="en-US" sz="3000"/>
          </a:p>
        </p:txBody>
      </p:sp>
      <p:sp>
        <p:nvSpPr>
          <p:cNvPr id="24" name="Rounded Rectangle 23"/>
          <p:cNvSpPr/>
          <p:nvPr/>
        </p:nvSpPr>
        <p:spPr>
          <a:xfrm>
            <a:off x="822960" y="2743200"/>
            <a:ext cx="5212080" cy="3794760"/>
          </a:xfrm>
          <a:prstGeom prst="roundRect">
            <a:avLst>
              <a:gd name="adj" fmla="val 4337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2971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01  정보 확인</a:t>
            </a:r>
            <a:endParaRPr lang="ko-KR" altLang="en-US" sz="1400"/>
          </a:p>
        </p:txBody>
      </p:sp>
      <p:sp>
        <p:nvSpPr>
          <p:cNvPr id="26" name="TextBox 25"/>
          <p:cNvSpPr txBox="1"/>
          <p:nvPr/>
        </p:nvSpPr>
        <p:spPr>
          <a:xfrm>
            <a:off x="1143000" y="336499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통합 상황도</a:t>
            </a:r>
            <a:endParaRPr lang="ko-KR" altLang="en-US" sz="2600"/>
          </a:p>
        </p:txBody>
      </p:sp>
      <p:sp>
        <p:nvSpPr>
          <p:cNvPr id="27" name="TextBox 26"/>
          <p:cNvSpPr txBox="1"/>
          <p:nvPr/>
        </p:nvSpPr>
        <p:spPr>
          <a:xfrm>
            <a:off x="1143000" y="4206240"/>
            <a:ext cx="4663440" cy="228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발화점 · 실측 화선 · 1시간 간격 확산 예측(P1~P8)</a:t>
            </a:r>
            <a:endParaRPr lang="ko-KR" altLang="en-US" sz="1700"/>
          </a:p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마을 · 시설 · 도로 · 진화자원(대기·투입·정비)</a:t>
            </a:r>
            <a:endParaRPr lang="ko-KR" altLang="en-US" sz="1700"/>
          </a:p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P5 기준 산불 위험도(1.00~5.00)</a:t>
            </a:r>
            <a:endParaRPr lang="ko-KR" altLang="en-US" sz="1700"/>
          </a:p>
        </p:txBody>
      </p:sp>
      <p:sp>
        <p:nvSpPr>
          <p:cNvPr id="28" name="Right Arrow 27"/>
          <p:cNvSpPr/>
          <p:nvPr/>
        </p:nvSpPr>
        <p:spPr>
          <a:xfrm>
            <a:off x="6108192" y="4434840"/>
            <a:ext cx="347472" cy="411480"/>
          </a:xfrm>
          <a:prstGeom prst="rightArrow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37960" y="2743200"/>
            <a:ext cx="5212080" cy="3794760"/>
          </a:xfrm>
          <a:prstGeom prst="roundRect">
            <a:avLst>
              <a:gd name="adj" fmla="val 4337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971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02  대응안 검토</a:t>
            </a:r>
            <a:endParaRPr lang="ko-KR" altLang="en-US" sz="1400"/>
          </a:p>
        </p:txBody>
      </p:sp>
      <p:sp>
        <p:nvSpPr>
          <p:cNvPr id="31" name="TextBox 30"/>
          <p:cNvSpPr txBox="1"/>
          <p:nvPr/>
        </p:nvSpPr>
        <p:spPr>
          <a:xfrm>
            <a:off x="6858000" y="336499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AI 대응 제안</a:t>
            </a:r>
            <a:endParaRPr lang="ko-KR" altLang="en-US" sz="2600"/>
          </a:p>
        </p:txBody>
      </p:sp>
      <p:sp>
        <p:nvSpPr>
          <p:cNvPr id="32" name="TextBox 31"/>
          <p:cNvSpPr txBox="1"/>
          <p:nvPr/>
        </p:nvSpPr>
        <p:spPr>
          <a:xfrm>
            <a:off x="6858000" y="4206240"/>
            <a:ext cx="4663440" cy="228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 7(S1~S7) · 대피 7(E1~E7) 판단 항목</a:t>
            </a:r>
            <a:endParaRPr lang="ko-KR" altLang="en-US" sz="1700"/>
          </a:p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판정 · 대상 · 실행 구분 · 권한 제시</a:t>
            </a:r>
            <a:endParaRPr lang="ko-KR" altLang="en-US" sz="1700"/>
          </a:p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재예측 · 상황 정정 시 새 버전(v1.1 → v1.2)</a:t>
            </a:r>
            <a:endParaRPr lang="ko-KR" altLang="en-US" sz="1700"/>
          </a:p>
        </p:txBody>
      </p:sp>
      <p:sp>
        <p:nvSpPr>
          <p:cNvPr id="33" name="Right Arrow 32"/>
          <p:cNvSpPr/>
          <p:nvPr/>
        </p:nvSpPr>
        <p:spPr>
          <a:xfrm>
            <a:off x="11823192" y="4434840"/>
            <a:ext cx="347472" cy="411480"/>
          </a:xfrm>
          <a:prstGeom prst="rightArrow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2252960" y="2743200"/>
            <a:ext cx="5212080" cy="3794760"/>
          </a:xfrm>
          <a:prstGeom prst="roundRect">
            <a:avLst>
              <a:gd name="adj" fmla="val 4337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573000" y="2971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03  근거 확인</a:t>
            </a:r>
            <a:endParaRPr lang="ko-KR" altLang="en-US" sz="1400"/>
          </a:p>
        </p:txBody>
      </p:sp>
      <p:sp>
        <p:nvSpPr>
          <p:cNvPr id="36" name="TextBox 35"/>
          <p:cNvSpPr txBox="1"/>
          <p:nvPr/>
        </p:nvSpPr>
        <p:spPr>
          <a:xfrm>
            <a:off x="12573000" y="336499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근거 기반 AI</a:t>
            </a:r>
            <a:endParaRPr lang="ko-KR" altLang="en-US" sz="2600"/>
          </a:p>
        </p:txBody>
      </p:sp>
      <p:sp>
        <p:nvSpPr>
          <p:cNvPr id="37" name="TextBox 36"/>
          <p:cNvSpPr txBox="1"/>
          <p:nvPr/>
        </p:nvSpPr>
        <p:spPr>
          <a:xfrm>
            <a:off x="12573000" y="4206240"/>
            <a:ext cx="4663440" cy="228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문장마다 문서 · 쪽수 · 조항 근거 [k]</a:t>
            </a:r>
            <a:endParaRPr lang="ko-KR" altLang="en-US" sz="1700"/>
          </a:p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경계값 · 수치는 규칙 엔진이 판정</a:t>
            </a:r>
            <a:endParaRPr lang="ko-KR" altLang="en-US" sz="1700"/>
          </a:p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7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없는 내용은 내보내지 않음</a:t>
            </a:r>
            <a:endParaRPr lang="ko-KR" altLang="en-US" sz="1700"/>
          </a:p>
        </p:txBody>
      </p:sp>
      <p:sp>
        <p:nvSpPr>
          <p:cNvPr id="38" name="Rounded Rectangle 37"/>
          <p:cNvSpPr/>
          <p:nvPr/>
        </p:nvSpPr>
        <p:spPr>
          <a:xfrm>
            <a:off x="822960" y="6885432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목표 ①  문제 ① 대응</a:t>
            </a:r>
            <a:endParaRPr lang="ko-KR" altLang="en-US" sz="1300"/>
          </a:p>
        </p:txBody>
      </p:sp>
      <p:sp>
        <p:nvSpPr>
          <p:cNvPr id="39" name="TextBox 38"/>
          <p:cNvSpPr txBox="1"/>
          <p:nvPr/>
        </p:nvSpPr>
        <p:spPr>
          <a:xfrm>
            <a:off x="3657600" y="68580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 상황 인식</a:t>
            </a:r>
            <a:endParaRPr lang="ko-KR" altLang="en-US" sz="1900"/>
          </a:p>
        </p:txBody>
      </p:sp>
      <p:sp>
        <p:nvSpPr>
          <p:cNvPr id="40" name="TextBox 39"/>
          <p:cNvSpPr txBox="1"/>
          <p:nvPr/>
        </p:nvSpPr>
        <p:spPr>
          <a:xfrm>
            <a:off x="6766560" y="68580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 위치 · 확산 예측 · 주변 시설 · 기상 · 진화자원을 하나의 지도에서 확인</a:t>
            </a:r>
            <a:endParaRPr lang="ko-KR" altLang="en-US" sz="1550"/>
          </a:p>
        </p:txBody>
      </p:sp>
      <p:sp>
        <p:nvSpPr>
          <p:cNvPr id="41" name="Rounded Rectangle 40"/>
          <p:cNvSpPr/>
          <p:nvPr/>
        </p:nvSpPr>
        <p:spPr>
          <a:xfrm>
            <a:off x="822960" y="7708392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목표 ②  문제 ② 대응</a:t>
            </a:r>
            <a:endParaRPr lang="ko-KR" altLang="en-US" sz="1300"/>
          </a:p>
        </p:txBody>
      </p:sp>
      <p:sp>
        <p:nvSpPr>
          <p:cNvPr id="42" name="TextBox 41"/>
          <p:cNvSpPr txBox="1"/>
          <p:nvPr/>
        </p:nvSpPr>
        <p:spPr>
          <a:xfrm>
            <a:off x="3657600" y="76809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전문적 의사결정 지원</a:t>
            </a:r>
            <a:endParaRPr lang="ko-KR" altLang="en-US" sz="1900"/>
          </a:p>
        </p:txBody>
      </p:sp>
      <p:sp>
        <p:nvSpPr>
          <p:cNvPr id="43" name="TextBox 42"/>
          <p:cNvSpPr txBox="1"/>
          <p:nvPr/>
        </p:nvSpPr>
        <p:spPr>
          <a:xfrm>
            <a:off x="6766560" y="76809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예측과 현재 상황을 표준매뉴얼 판단 항목에 대입해 대응안을 근거와 함께 제안</a:t>
            </a:r>
            <a:endParaRPr lang="ko-KR" altLang="en-US" sz="1550"/>
          </a:p>
        </p:txBody>
      </p:sp>
      <p:sp>
        <p:nvSpPr>
          <p:cNvPr id="44" name="Rounded Rectangle 43"/>
          <p:cNvSpPr/>
          <p:nvPr/>
        </p:nvSpPr>
        <p:spPr>
          <a:xfrm>
            <a:off x="822960" y="8503920"/>
            <a:ext cx="16642080" cy="566928"/>
          </a:xfrm>
          <a:prstGeom prst="roundRect">
            <a:avLst>
              <a:gd name="adj" fmla="val 48387"/>
            </a:avLst>
          </a:prstGeom>
          <a:solidFill>
            <a:srgbClr val="FAA95A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운영 원칙  —  AI는 근거 있는 초안을 제시하고, 최종 결정은 통합지휘권자가 내립니다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4224752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669DB-3D20-4653-C5D2-20BE9FAB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D8EE007-D247-690D-6E17-08AAA672DC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1B95043-F8B3-9939-B3E6-F3708C326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D2D53EA-6996-2E5B-65F8-BF4AC0DA0E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30767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CBD0B08-2AD3-D594-D0C4-6910ABBA6A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00E117E3-F7C2-8359-3489-CA68E7DF0434}"/>
              </a:ext>
            </a:extLst>
          </p:cNvPr>
          <p:cNvSpPr txBox="1"/>
          <p:nvPr/>
        </p:nvSpPr>
        <p:spPr>
          <a:xfrm>
            <a:off x="825500" y="469900"/>
            <a:ext cx="4004129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2.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개발</a:t>
            </a: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목표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4D7249-47BA-672B-7350-BF4EC2143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22960" y="1810512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목표 항목과 목표치 — </a:t>
            </a:r>
            <a:r>
              <a:rPr lang="ko-KR" altLang="en-US" sz="30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정량 9개 지표</a:t>
            </a:r>
            <a:r>
              <a:rPr lang="ko-KR" altLang="en-US" sz="30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· 정성 3개</a:t>
            </a:r>
            <a:endParaRPr lang="ko-KR" altLang="en-US" sz="300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22960" y="2743200"/>
          <a:ext cx="16642080" cy="5102352"/>
        </p:xfrm>
        <a:graphic>
          <a:graphicData uri="http://schemas.openxmlformats.org/drawingml/2006/table">
            <a:tbl>
              <a:tblPr/>
              <a:tblGrid>
                <a:gridCol w="1280160"/>
                <a:gridCol w="5669280"/>
                <a:gridCol w="4480560"/>
                <a:gridCol w="5212080"/>
              </a:tblGrid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  <a:endParaRPr lang="ko-KR" altLang="en-US" sz="15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목표 항목</a:t>
                      </a:r>
                      <a:endParaRPr lang="ko-KR" altLang="en-US" sz="15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목표치</a:t>
                      </a:r>
                      <a:endParaRPr lang="ko-KR" altLang="en-US" sz="15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설정 근거</a:t>
                      </a:r>
                      <a:endParaRPr lang="ko-KR" altLang="en-US" sz="15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</a:tr>
              <a:tr h="566928">
                <a:tc rowSpan="5"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정량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확산 예측 — 탐지 중심 종합 점수 F2 (핵심)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0.805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국립산림과학원 과정 기반(물리) 모형 검증치, 국내 산불 35건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/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확산 예측 — IoU · 정밀도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0.582 · ≥ 0.599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같은 검증 · FARSITE 사례 IoU 0.535~0.616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/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확산 예측 — 재현율 · F1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0.956 · ≥ 0.699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같은 검증(설명서 p.45 표 11)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/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대응 제안 — 근거 충실도 · 질의 관련도 (RAGAS)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0.79 · ≥ 0.82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재난·공공 RAG 연구 대표값의 하위 25%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/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대응 제안 — 근거 순위 정밀도@K · 필요 근거 확보율@K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0.82 · ≥ 0.80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같은 방식, 확보율은 K 선택 기준(K = 3·5·7·10)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 rowSpan="3"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정성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통합 상황도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발화점·실측 화선·P1~P8·시설·진화자원·위험도를 한 지도에서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문제 ① 대응 · 프로토타입 검증(UC 15개 통과)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/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판단 항목별 제안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진화·대피 14개 항목별 판정·권한·근거, 정정 시 새 버전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문제 ② 대응 · 표준매뉴얼 항목 체계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/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추적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모든 제안 문장에서 문서·쪽수·조항·요약 확인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문제 ② 대응 · 인용 형식(ALCE)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822960" y="809244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하한은 최소 기준이며 유사 연구 중앙값을 목표로 두고 1차 실행 결과로 다시 확인합니다.</a:t>
            </a:r>
            <a:endParaRPr lang="ko-KR" altLang="en-US" sz="1300"/>
          </a:p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아직 측정하지 않은 상황 파악 시간 단축 · 피해 감소 효과는 성과로 쓰지 않습니다.</a:t>
            </a:r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645432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6B1E3-54EF-6480-1380-EBB8611BD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A62AD02D-9A24-7327-0212-DD736D095455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24DC7E1-8E7F-F1F2-B22C-2D71393E855A}"/>
              </a:ext>
            </a:extLst>
          </p:cNvPr>
          <p:cNvSpPr txBox="1"/>
          <p:nvPr/>
        </p:nvSpPr>
        <p:spPr>
          <a:xfrm>
            <a:off x="7822235" y="4648011"/>
            <a:ext cx="2611552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3</a:t>
            </a:r>
            <a:r>
              <a:rPr lang="en-US" sz="4799" spc="-10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차별성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F441F0-947E-D9E8-3455-6E78F065B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52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7104A-F85B-7A9D-EA50-2D4053C8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6B21E08-3241-AF20-05D7-FA8013AF1A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8079946-2F11-7878-4EC2-DE7FA1BC4D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1A56E97-DBFB-E1FB-7C50-89056A066E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47A9A33-688E-FDA2-7120-8F57B4F00C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0BE692E7-3DBB-9413-804D-2ABA9C913196}"/>
              </a:ext>
            </a:extLst>
          </p:cNvPr>
          <p:cNvSpPr txBox="1"/>
          <p:nvPr/>
        </p:nvSpPr>
        <p:spPr>
          <a:xfrm>
            <a:off x="825500" y="469900"/>
            <a:ext cx="6229169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3.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차별성</a:t>
            </a:r>
            <a:endParaRPr lang="en-US" altLang="ko-KR" sz="4750" spc="-100" dirty="0">
              <a:solidFill>
                <a:srgbClr val="FAA95A"/>
              </a:solidFill>
              <a:latin typeface="210 OmniGothic 050"/>
              <a:ea typeface="210 OmniGothic 050"/>
              <a:cs typeface="Calibri"/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2C17245E-6CB0-818E-37B3-9739F312F2E1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009097" y="5793349"/>
            <a:ext cx="4813300" cy="25400"/>
          </a:xfrm>
          <a:prstGeom prst="rect">
            <a:avLst/>
          </a:prstGeom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11EF1852-9DFF-C61F-6734-07E055A68473}"/>
              </a:ext>
            </a:extLst>
          </p:cNvPr>
          <p:cNvSpPr txBox="1"/>
          <p:nvPr/>
        </p:nvSpPr>
        <p:spPr>
          <a:xfrm>
            <a:off x="1116427" y="7163582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6199"/>
              </a:lnSpc>
            </a:pPr>
            <a:r>
              <a:rPr lang="ko-KR" altLang="en-US" sz="28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판단 항목별 대응안 + 근거</a:t>
            </a:r>
            <a:endParaRPr lang="en-US" sz="28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DF76DB8E-F186-2A46-3717-9156BA709170}"/>
              </a:ext>
            </a:extLst>
          </p:cNvPr>
          <p:cNvSpPr txBox="1"/>
          <p:nvPr/>
        </p:nvSpPr>
        <p:spPr>
          <a:xfrm>
            <a:off x="1116427" y="5924061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6199"/>
              </a:lnSpc>
            </a:pPr>
            <a:r>
              <a:rPr lang="ko-KR" altLang="en-US" sz="28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대응 판단 자동화</a:t>
            </a:r>
            <a:endParaRPr lang="en-US" sz="20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FD8CEE00-2AC4-F13A-0C50-E30759D8F1C6}"/>
              </a:ext>
            </a:extLst>
          </p:cNvPr>
          <p:cNvSpPr txBox="1"/>
          <p:nvPr/>
        </p:nvSpPr>
        <p:spPr>
          <a:xfrm>
            <a:off x="1116427" y="4666761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6199"/>
              </a:lnSpc>
            </a:pPr>
            <a:r>
              <a:rPr lang="ko-KR" altLang="en-US" sz="28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예측 결과</a:t>
            </a:r>
            <a:endParaRPr lang="ko-KR" altLang="en-US" sz="2800" b="0" i="0" u="none" strike="noStrike" spc="-100">
              <a:solidFill>
                <a:srgbClr val="363A52"/>
              </a:solidFill>
              <a:latin typeface="210 OmniGothic 050"/>
              <a:ea typeface="210 OmniGothic 050"/>
              <a:cs typeface="210 OmniGothic 030"/>
            </a:endParaRPr>
          </a:p>
        </p:txBody>
      </p:sp>
      <p:pic>
        <p:nvPicPr>
          <p:cNvPr id="26" name="Picture 14">
            <a:extLst>
              <a:ext uri="{FF2B5EF4-FFF2-40B4-BE49-F238E27FC236}">
                <a16:creationId xmlns:a16="http://schemas.microsoft.com/office/drawing/2014/main" id="{607AA76E-54F7-AAA3-DBEE-19D42B90A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3544667" y="5416061"/>
            <a:ext cx="266700" cy="457200"/>
          </a:xfrm>
          <a:prstGeom prst="rect">
            <a:avLst/>
          </a:prstGeom>
        </p:spPr>
      </p:pic>
      <p:pic>
        <p:nvPicPr>
          <p:cNvPr id="27" name="Picture 14">
            <a:extLst>
              <a:ext uri="{FF2B5EF4-FFF2-40B4-BE49-F238E27FC236}">
                <a16:creationId xmlns:a16="http://schemas.microsoft.com/office/drawing/2014/main" id="{BD6AB1E1-CA0C-6184-26A8-AE6B2FD6E8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3544667" y="6665742"/>
            <a:ext cx="266700" cy="457200"/>
          </a:xfrm>
          <a:prstGeom prst="rect">
            <a:avLst/>
          </a:prstGeom>
        </p:spPr>
      </p:pic>
      <p:sp>
        <p:nvSpPr>
          <p:cNvPr id="24" name="TextBox 16">
            <a:extLst>
              <a:ext uri="{FF2B5EF4-FFF2-40B4-BE49-F238E27FC236}">
                <a16:creationId xmlns:a16="http://schemas.microsoft.com/office/drawing/2014/main" id="{8A167692-BA19-8E51-13C9-52660E2E483F}"/>
              </a:ext>
            </a:extLst>
          </p:cNvPr>
          <p:cNvSpPr txBox="1"/>
          <p:nvPr/>
        </p:nvSpPr>
        <p:spPr>
          <a:xfrm>
            <a:off x="797755" y="3393050"/>
            <a:ext cx="5598160" cy="98552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32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본 과제의 핵심은 산불 확산을 </a:t>
            </a:r>
            <a:endParaRPr lang="en-US" altLang="ko-KR" sz="3200" b="1" dirty="0">
              <a:solidFill>
                <a:srgbClr val="363A52"/>
              </a:solidFill>
              <a:ea typeface="맑은 고딕"/>
              <a:cs typeface="Calibri"/>
            </a:endParaRPr>
          </a:p>
          <a:p>
            <a:pPr algn="ctr">
              <a:lnSpc>
                <a:spcPct val="99600"/>
              </a:lnSpc>
            </a:pPr>
            <a:r>
              <a:rPr lang="ko-KR" altLang="en-US" sz="32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새롭게 예측하는 것이 아니다</a:t>
            </a:r>
            <a:endParaRPr lang="ko-KR" sz="3200" b="1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CB61C7B-E523-3602-B5D3-0586009301CD}"/>
              </a:ext>
            </a:extLst>
          </p:cNvPr>
          <p:cNvSpPr txBox="1"/>
          <p:nvPr/>
        </p:nvSpPr>
        <p:spPr>
          <a:xfrm>
            <a:off x="1623786" y="187415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기존 시스템과 무엇이 </a:t>
            </a:r>
            <a:r>
              <a:rPr lang="ko-KR" altLang="en-US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다른가</a:t>
            </a: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?</a:t>
            </a:r>
            <a:endParaRPr lang="en-US" altLang="ko-KR" dirty="0">
              <a:cs typeface="Calibri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DCF06B-5A79-C5CA-8B65-FAF1D1C1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25596DE-EE8A-863B-46F4-9344AF259126}"/>
              </a:ext>
            </a:extLst>
          </p:cNvPr>
          <p:cNvGraphicFramePr>
            <a:graphicFrameLocks noGrp="1"/>
          </p:cNvGraphicFramePr>
          <p:nvPr/>
        </p:nvGraphicFramePr>
        <p:xfrm>
          <a:off x="7056120" y="3389376"/>
          <a:ext cx="10425005" cy="3858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389">
                  <a:extLst>
                    <a:ext uri="{9D8B030D-6E8A-4147-A177-3AD203B41FA5}">
                      <a16:colId xmlns:a16="http://schemas.microsoft.com/office/drawing/2014/main" val="4037548728"/>
                    </a:ext>
                  </a:extLst>
                </a:gridCol>
                <a:gridCol w="2747113">
                  <a:extLst>
                    <a:ext uri="{9D8B030D-6E8A-4147-A177-3AD203B41FA5}">
                      <a16:colId xmlns:a16="http://schemas.microsoft.com/office/drawing/2014/main" val="2801287839"/>
                    </a:ext>
                  </a:extLst>
                </a:gridCol>
                <a:gridCol w="2266627">
                  <a:extLst>
                    <a:ext uri="{9D8B030D-6E8A-4147-A177-3AD203B41FA5}">
                      <a16:colId xmlns:a16="http://schemas.microsoft.com/office/drawing/2014/main" val="1667052571"/>
                    </a:ext>
                  </a:extLst>
                </a:gridCol>
                <a:gridCol w="2945876">
                  <a:extLst>
                    <a:ext uri="{9D8B030D-6E8A-4147-A177-3AD203B41FA5}">
                      <a16:colId xmlns:a16="http://schemas.microsoft.com/office/drawing/2014/main" val="3386174387"/>
                    </a:ext>
                  </a:extLst>
                </a:gridCol>
              </a:tblGrid>
              <a:tr h="8665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210 OmniGothic 040"/>
                          <a:ea typeface="210 OmniGothic 040"/>
                        </a:rPr>
                        <a:t>비교 항목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기존 국가 시스템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범용 LLM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210 OmniGothic 040"/>
                          <a:ea typeface="210 OmniGothic 040"/>
                        </a:rPr>
                        <a:t>본 과제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A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417414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대응안 생성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회차별 수작업</a:t>
                      </a:r>
                      <a:endParaRPr lang="ko-KR" altLang="en-US" sz="200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b="0" i="0" u="none" strike="noStrike" noProof="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자동 · 근거 없음</a:t>
                      </a:r>
                      <a:endParaRPr lang="ko-KR" sz="200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b="1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자동 · 규칙 판정 + 근거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686081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 b="1" i="0" u="none" strike="noStrike" noProof="0" dirty="0" err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산출 단위</a:t>
                      </a:r>
                      <a:endParaRPr lang="ko-KR" sz="2400" b="1" i="0" u="none" strike="noStrike" noProof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b="0" i="0" u="none" strike="noStrike" noProof="0" dirty="0" err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진화 · 대피 2종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구분 없음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판단 항목 14개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047256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근거 추적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조항 표기 없음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불가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문서 · 쪽수 · 조항</a:t>
                      </a:r>
                      <a:endParaRPr lang="ko-KR" altLang="en-US" sz="2000" b="1" i="0" u="none" strike="noStrike" noProof="0" dirty="0">
                        <a:solidFill>
                          <a:srgbClr val="FAA95A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400002"/>
                  </a:ext>
                </a:extLst>
              </a:tr>
              <a:tr h="7848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생성문 통제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-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없음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2000" b="1" i="0" u="none" strike="noStrike" noProof="0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판정 고정 · 무근거 미출력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531019"/>
                  </a:ext>
                </a:extLst>
              </a:tr>
            </a:tbl>
          </a:graphicData>
        </a:graphic>
      </p:graphicFrame>
      <p:sp>
        <p:nvSpPr>
          <p:cNvPr id="10" name="TextBox 16">
            <a:extLst>
              <a:ext uri="{FF2B5EF4-FFF2-40B4-BE49-F238E27FC236}">
                <a16:creationId xmlns:a16="http://schemas.microsoft.com/office/drawing/2014/main" id="{3887C551-3CB5-C0A3-2DC3-8D6A54531052}"/>
              </a:ext>
            </a:extLst>
          </p:cNvPr>
          <p:cNvSpPr txBox="1"/>
          <p:nvPr/>
        </p:nvSpPr>
        <p:spPr>
          <a:xfrm>
            <a:off x="7229035" y="7355450"/>
            <a:ext cx="10078720" cy="173228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32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기존의 '예측 제공' 단계를 넘어,  </a:t>
            </a:r>
            <a:endParaRPr lang="ko-KR" altLang="en-US" sz="3200" b="1" spc="-100" dirty="0">
              <a:solidFill>
                <a:srgbClr val="FAA95A"/>
              </a:solidFill>
              <a:latin typeface="210 OmniGothic 040"/>
              <a:ea typeface="210 OmniGothic 040"/>
              <a:cs typeface="Calibri"/>
            </a:endParaRPr>
          </a:p>
          <a:p>
            <a:pPr algn="ctr">
              <a:lnSpc>
                <a:spcPct val="99600"/>
              </a:lnSpc>
            </a:pPr>
            <a:r>
              <a:rPr lang="ko-KR" altLang="en-US" sz="32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예측을 실제 대응 행동으로 연결하는 것이 </a:t>
            </a:r>
          </a:p>
          <a:p>
            <a:pPr algn="ctr">
              <a:lnSpc>
                <a:spcPct val="99600"/>
              </a:lnSpc>
            </a:pPr>
            <a:r>
              <a:rPr lang="ko-KR" altLang="en-US" sz="32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본 과제의 차별성이다.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767331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86116-51C8-CF16-0BD3-0AC50E2C2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666E5E5C-A96C-6051-D670-53A8A9353F51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175D7C3-028D-E63B-E6DA-B856810AE4DB}"/>
              </a:ext>
            </a:extLst>
          </p:cNvPr>
          <p:cNvSpPr txBox="1"/>
          <p:nvPr/>
        </p:nvSpPr>
        <p:spPr>
          <a:xfrm>
            <a:off x="5465648" y="4648011"/>
            <a:ext cx="7324725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4.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활용 데이터 및 활용 방안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37442F-305A-75A3-EA8C-90C7B7413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63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15798-C902-402E-4D5F-496EC76E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15BE608-BF89-4CCE-DFC2-C8C6DA9018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5AC6F65-044D-71AC-565E-3AF47800F4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B6D061A-C352-BDF9-1D1F-35F92FFC6F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7475BD1-F373-CF3F-7742-4852DD9278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F640D07D-92AE-2EDA-4640-65EC19ED58B9}"/>
              </a:ext>
            </a:extLst>
          </p:cNvPr>
          <p:cNvSpPr txBox="1"/>
          <p:nvPr/>
        </p:nvSpPr>
        <p:spPr>
          <a:xfrm>
            <a:off x="1623786" y="187415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en-US" alt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세 </a:t>
            </a:r>
            <a:r>
              <a:rPr lang="en-US" altLang="ko-KR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종류의</a:t>
            </a:r>
            <a:r>
              <a:rPr lang="en-US" alt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 </a:t>
            </a:r>
            <a:r>
              <a:rPr lang="en-US" altLang="ko-KR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데이터를</a:t>
            </a:r>
            <a:r>
              <a:rPr lang="en-US" alt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 </a:t>
            </a:r>
            <a:r>
              <a:rPr lang="en-US" altLang="ko-KR" sz="4000" b="1" spc="-100" dirty="0" err="1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분리해서</a:t>
            </a:r>
            <a:r>
              <a:rPr lang="en-US" alt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 </a:t>
            </a:r>
            <a:r>
              <a:rPr lang="en-US" altLang="ko-KR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사용한다</a:t>
            </a:r>
            <a:endParaRPr lang="en-US" altLang="ko-KR" sz="4000" b="1" spc="-100" dirty="0">
              <a:solidFill>
                <a:srgbClr val="363A52"/>
              </a:solidFill>
              <a:latin typeface="210 OmniGothic 040"/>
              <a:ea typeface="210 OmniGothic 040"/>
              <a:cs typeface="Calibri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14E1157-5E84-36A2-BEF4-D4DC2E8E9E10}"/>
              </a:ext>
            </a:extLst>
          </p:cNvPr>
          <p:cNvSpPr txBox="1"/>
          <p:nvPr/>
        </p:nvSpPr>
        <p:spPr>
          <a:xfrm>
            <a:off x="825500" y="469900"/>
            <a:ext cx="6122489" cy="876300"/>
          </a:xfrm>
          <a:prstGeom prst="rect">
            <a:avLst/>
          </a:prstGeom>
          <a:noFill/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4.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활용</a:t>
            </a: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데이터</a:t>
            </a:r>
            <a:endParaRPr lang="en-US" altLang="ko-KR" sz="4750" spc="-100" dirty="0">
              <a:solidFill>
                <a:srgbClr val="FAA95A"/>
              </a:solidFill>
              <a:latin typeface="210 OmniGothic 050"/>
              <a:ea typeface="210 OmniGothic 050"/>
              <a:cs typeface="Calibri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5DBB50-0518-EDC8-7FEB-BC89156AE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787B1A46-8B85-DB66-A44B-63C44E84075B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2864" y="3726180"/>
            <a:ext cx="4000500" cy="4486275"/>
          </a:xfrm>
          <a:prstGeom prst="rect">
            <a:avLst/>
          </a:prstGeom>
        </p:spPr>
      </p:pic>
      <p:sp>
        <p:nvSpPr>
          <p:cNvPr id="11" name="TextBox 25">
            <a:extLst>
              <a:ext uri="{FF2B5EF4-FFF2-40B4-BE49-F238E27FC236}">
                <a16:creationId xmlns:a16="http://schemas.microsoft.com/office/drawing/2014/main" id="{0D9545A8-C665-DD8C-2905-3462C5013641}"/>
              </a:ext>
            </a:extLst>
          </p:cNvPr>
          <p:cNvSpPr txBox="1"/>
          <p:nvPr/>
        </p:nvSpPr>
        <p:spPr>
          <a:xfrm>
            <a:off x="7648393" y="4270711"/>
            <a:ext cx="2971800" cy="63554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altLang="ko-KR" sz="3600" b="1" spc="-100" dirty="0" err="1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운영</a:t>
            </a:r>
            <a:r>
              <a:rPr lang="en-US" altLang="ko-KR" sz="36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 </a:t>
            </a:r>
            <a:r>
              <a:rPr lang="en-US" altLang="ko-KR" sz="3600" b="1" spc="-100" dirty="0" err="1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데이터</a:t>
            </a:r>
            <a:endParaRPr lang="en-US" altLang="ko-KR" sz="3600" b="1" i="0" u="none" strike="noStrike" spc="-100" dirty="0">
              <a:solidFill>
                <a:srgbClr val="FAA95A"/>
              </a:solidFill>
              <a:latin typeface="210 OmniGothic 040" panose="020B0600000101010101" charset="-127"/>
              <a:ea typeface="210 OmniGothic 040" panose="020B0600000101010101" charset="-127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9F2866-5A77-BB3A-DA03-CDE74EDB6A68}"/>
              </a:ext>
            </a:extLst>
          </p:cNvPr>
          <p:cNvSpPr txBox="1"/>
          <p:nvPr/>
        </p:nvSpPr>
        <p:spPr>
          <a:xfrm>
            <a:off x="7620684" y="5974565"/>
            <a:ext cx="3733800" cy="155606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기상 · DEM · 임상도</a:t>
            </a:r>
            <a:endParaRPr lang="ko-KR"/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SGIS 인구 · 도로 · 대피소</a:t>
            </a:r>
            <a:endParaRPr lang="ko-KR"/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상황 보고자 입력</a:t>
            </a:r>
            <a:endParaRPr lang="ko-KR"/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진화자원 데이터</a:t>
            </a:r>
            <a:endParaRPr lang="ko-KR"/>
          </a:p>
        </p:txBody>
      </p:sp>
      <p:pic>
        <p:nvPicPr>
          <p:cNvPr id="14" name="Picture 15">
            <a:extLst>
              <a:ext uri="{FF2B5EF4-FFF2-40B4-BE49-F238E27FC236}">
                <a16:creationId xmlns:a16="http://schemas.microsoft.com/office/drawing/2014/main" id="{C025D004-8425-4F11-87C1-445FC219EA32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90304" y="3741420"/>
            <a:ext cx="4000500" cy="4486275"/>
          </a:xfrm>
          <a:prstGeom prst="rect">
            <a:avLst/>
          </a:prstGeom>
        </p:spPr>
      </p:pic>
      <p:pic>
        <p:nvPicPr>
          <p:cNvPr id="17" name="Picture 15">
            <a:extLst>
              <a:ext uri="{FF2B5EF4-FFF2-40B4-BE49-F238E27FC236}">
                <a16:creationId xmlns:a16="http://schemas.microsoft.com/office/drawing/2014/main" id="{F752FE72-94AB-F619-914A-6D505AAC56B7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12584" y="3832859"/>
            <a:ext cx="4000500" cy="4486275"/>
          </a:xfrm>
          <a:prstGeom prst="rect">
            <a:avLst/>
          </a:prstGeom>
        </p:spPr>
      </p:pic>
      <p:sp>
        <p:nvSpPr>
          <p:cNvPr id="18" name="TextBox 25">
            <a:extLst>
              <a:ext uri="{FF2B5EF4-FFF2-40B4-BE49-F238E27FC236}">
                <a16:creationId xmlns:a16="http://schemas.microsoft.com/office/drawing/2014/main" id="{56A0A995-40E0-AED1-3EE0-1BDD2A55A5F9}"/>
              </a:ext>
            </a:extLst>
          </p:cNvPr>
          <p:cNvSpPr txBox="1"/>
          <p:nvPr/>
        </p:nvSpPr>
        <p:spPr>
          <a:xfrm>
            <a:off x="7613757" y="5042930"/>
            <a:ext cx="2971800" cy="51362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altLang="ko-KR" sz="2400" b="1" spc="-100" dirty="0" err="1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실시간</a:t>
            </a:r>
            <a:r>
              <a:rPr lang="en-US" altLang="ko-KR" sz="2400" b="1" spc="-100" dirty="0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 </a:t>
            </a:r>
            <a:r>
              <a:rPr lang="en-US" altLang="ko-KR" sz="2400" b="1" spc="-100" dirty="0" err="1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입력용</a:t>
            </a:r>
            <a:endParaRPr lang="en-US" altLang="ko-KR" sz="2400" b="1" i="0" u="none" strike="noStrike" spc="-100" dirty="0">
              <a:solidFill>
                <a:srgbClr val="363A52"/>
              </a:solidFill>
              <a:latin typeface="210 OmniGothic 040" panose="020B0600000101010101" charset="-127"/>
              <a:ea typeface="210 OmniGothic 040" panose="020B0600000101010101" charset="-127"/>
              <a:cs typeface="Calibri"/>
            </a:endParaRP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D223367F-683E-8B2D-AAA9-77362A6DF12C}"/>
              </a:ext>
            </a:extLst>
          </p:cNvPr>
          <p:cNvSpPr txBox="1"/>
          <p:nvPr/>
        </p:nvSpPr>
        <p:spPr>
          <a:xfrm>
            <a:off x="12982393" y="4331670"/>
            <a:ext cx="2971800" cy="63554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altLang="ko-KR" sz="3600" b="1" spc="-100" dirty="0" err="1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법령</a:t>
            </a:r>
            <a:r>
              <a:rPr lang="en-US" altLang="ko-KR" sz="36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 </a:t>
            </a:r>
            <a:r>
              <a:rPr lang="en-US" sz="36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· </a:t>
            </a:r>
            <a:r>
              <a:rPr lang="ko-KR" altLang="en-US" sz="36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매뉴얼</a:t>
            </a:r>
            <a:endParaRPr lang="en-US" altLang="ko-KR" sz="3600" b="1" i="0" u="none" strike="noStrike" spc="-100">
              <a:solidFill>
                <a:srgbClr val="FAA95A"/>
              </a:solidFill>
              <a:latin typeface="210 OmniGothic 040" panose="020B0600000101010101" charset="-127"/>
              <a:ea typeface="210 OmniGothic 040" panose="020B0600000101010101" charset="-127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E374A6-03AC-CF79-4326-6B4497A075FB}"/>
              </a:ext>
            </a:extLst>
          </p:cNvPr>
          <p:cNvSpPr txBox="1"/>
          <p:nvPr/>
        </p:nvSpPr>
        <p:spPr>
          <a:xfrm>
            <a:off x="12954684" y="6096484"/>
            <a:ext cx="3733800" cy="11901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산불 재난 표준매뉴얼</a:t>
            </a:r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산불진화기관 예규</a:t>
            </a:r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산림재난방지법 등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F298FAA7-25E4-BC16-7BDB-8767287D5DB7}"/>
              </a:ext>
            </a:extLst>
          </p:cNvPr>
          <p:cNvSpPr txBox="1"/>
          <p:nvPr/>
        </p:nvSpPr>
        <p:spPr>
          <a:xfrm>
            <a:off x="13041275" y="5042930"/>
            <a:ext cx="2971800" cy="51362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altLang="ko-KR" sz="2400" b="1" spc="-100" dirty="0" err="1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근거 인용용</a:t>
            </a:r>
            <a:endParaRPr lang="en-US" altLang="ko-KR" sz="2400" b="1" i="0" u="none" strike="noStrike" spc="-100" dirty="0" err="1">
              <a:solidFill>
                <a:srgbClr val="363A52"/>
              </a:solidFill>
              <a:latin typeface="210 OmniGothic 040" panose="020B0600000101010101" charset="-127"/>
              <a:ea typeface="210 OmniGothic 040" panose="020B0600000101010101" charset="-127"/>
              <a:cs typeface="Calibri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4331563-680D-2F4F-D3CC-67FA5BC6EA03}"/>
              </a:ext>
            </a:extLst>
          </p:cNvPr>
          <p:cNvSpPr txBox="1"/>
          <p:nvPr/>
        </p:nvSpPr>
        <p:spPr>
          <a:xfrm>
            <a:off x="2405833" y="4331670"/>
            <a:ext cx="2971800" cy="63554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/>
            <a:r>
              <a:rPr lang="en-US" sz="36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AI Hub</a:t>
            </a:r>
            <a:endParaRPr lang="ko-KR" altLang="en-US" dirty="0">
              <a:latin typeface="210 OmniGothic 040" panose="020B0600000101010101" charset="-127"/>
              <a:ea typeface="210 OmniGothic 040" panose="020B0600000101010101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B8DBC5-4635-86CB-5E94-925F73FBEA5A}"/>
              </a:ext>
            </a:extLst>
          </p:cNvPr>
          <p:cNvSpPr txBox="1"/>
          <p:nvPr/>
        </p:nvSpPr>
        <p:spPr>
          <a:xfrm>
            <a:off x="2378124" y="5992941"/>
            <a:ext cx="3733800" cy="12079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실제 산불 101건</a:t>
            </a:r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최종 소실 경계</a:t>
            </a:r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위험도 기준표 23개 변수</a:t>
            </a: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50A709A8-465C-0475-CC7C-A6D9605C0F16}"/>
              </a:ext>
            </a:extLst>
          </p:cNvPr>
          <p:cNvSpPr txBox="1"/>
          <p:nvPr/>
        </p:nvSpPr>
        <p:spPr>
          <a:xfrm>
            <a:off x="2336074" y="5043840"/>
            <a:ext cx="2971800" cy="51362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altLang="ko-KR" sz="2400" b="1" spc="-100" dirty="0" err="1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보정 · 검증용</a:t>
            </a:r>
            <a:endParaRPr lang="ko-KR" altLang="en-US" sz="2400" b="1" i="0" u="none" strike="noStrike" spc="-100" dirty="0">
              <a:solidFill>
                <a:srgbClr val="363A52"/>
              </a:solidFill>
              <a:latin typeface="210 OmniGothic 040" panose="020B0600000101010101" charset="-127"/>
              <a:ea typeface="210 OmniGothic 040" panose="020B0600000101010101" charset="-127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3873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67E32-B83D-9A2E-1299-120CA12D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23E8D87-8777-A1F4-F045-1D40018BFF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A8CE697-8731-B987-2944-6745251DFE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F92386C-42C5-042B-75B7-09D85444E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5FED8D4-0AEF-3184-FF75-575712C1BB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E4323BAB-A6CB-23AB-A2E2-EC1BEC0154E7}"/>
              </a:ext>
            </a:extLst>
          </p:cNvPr>
          <p:cNvSpPr txBox="1"/>
          <p:nvPr/>
        </p:nvSpPr>
        <p:spPr>
          <a:xfrm>
            <a:off x="825500" y="469900"/>
            <a:ext cx="6229169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r>
              <a:rPr lang="en-US" sz="480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4. </a:t>
            </a:r>
            <a:r>
              <a:rPr lang="en-US" sz="480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활용</a:t>
            </a:r>
            <a:r>
              <a:rPr lang="en-US" sz="480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 </a:t>
            </a:r>
            <a:r>
              <a:rPr lang="en-US" sz="480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데이터</a:t>
            </a:r>
            <a:endParaRPr lang="en-US" sz="4800" spc="-100" dirty="0" err="1">
              <a:solidFill>
                <a:srgbClr val="000000"/>
              </a:solidFill>
              <a:latin typeface="210 OmniGothic 050"/>
              <a:ea typeface="210 OmniGothic 050"/>
              <a:cs typeface="Calibri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9596D1-58B3-B2B3-BE91-016C739F76E9}"/>
              </a:ext>
            </a:extLst>
          </p:cNvPr>
          <p:cNvSpPr txBox="1"/>
          <p:nvPr/>
        </p:nvSpPr>
        <p:spPr>
          <a:xfrm>
            <a:off x="1623786" y="187415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데이터를 어떻게 활용하는가?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B97697-46D1-0F8B-9140-16AF0996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229DFA7-8B63-6185-6B10-0F16D0CEA62E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3154680"/>
          <a:ext cx="14168232" cy="3858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1513">
                  <a:extLst>
                    <a:ext uri="{9D8B030D-6E8A-4147-A177-3AD203B41FA5}">
                      <a16:colId xmlns:a16="http://schemas.microsoft.com/office/drawing/2014/main" val="4037548728"/>
                    </a:ext>
                  </a:extLst>
                </a:gridCol>
                <a:gridCol w="4770769">
                  <a:extLst>
                    <a:ext uri="{9D8B030D-6E8A-4147-A177-3AD203B41FA5}">
                      <a16:colId xmlns:a16="http://schemas.microsoft.com/office/drawing/2014/main" val="2801287839"/>
                    </a:ext>
                  </a:extLst>
                </a:gridCol>
                <a:gridCol w="5115950">
                  <a:extLst>
                    <a:ext uri="{9D8B030D-6E8A-4147-A177-3AD203B41FA5}">
                      <a16:colId xmlns:a16="http://schemas.microsoft.com/office/drawing/2014/main" val="3386174387"/>
                    </a:ext>
                  </a:extLst>
                </a:gridCol>
              </a:tblGrid>
              <a:tr h="86659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latin typeface="210 OmniGothic 040"/>
                          <a:ea typeface="210 OmniGothic 040"/>
                        </a:rPr>
                        <a:t>데이터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데이터 특성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210 OmniGothic 040"/>
                          <a:ea typeface="210 OmniGothic 040"/>
                        </a:rPr>
                        <a:t>본 과제에서의 활용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A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417414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AI Hub 소실 경계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시계열 없음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b="1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물리 모델 보정 · 검증</a:t>
                      </a:r>
                      <a:endParaRPr lang="ko-KR" altLang="en-US" sz="2000" b="1" i="0" u="none" strike="noStrike" noProof="0" dirty="0" err="1">
                        <a:solidFill>
                          <a:srgbClr val="FAA95A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686081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2400" b="1" i="0" u="none" strike="noStrike" noProof="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AI Hub 위험도</a:t>
                      </a:r>
                      <a:endParaRPr lang="ko-KR" sz="2400" b="1" i="0" u="none" strike="noStrike" noProof="0" dirty="0" err="1">
                        <a:solidFill>
                          <a:srgbClr val="363A52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b="0" i="0" u="none" strike="noStrike" noProof="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라벨 신뢰도 낮음</a:t>
                      </a:r>
                      <a:endParaRPr lang="ko-KR" altLang="en-US" sz="2000" b="0" i="0" u="none" strike="noStrike" noProof="0" dirty="0">
                        <a:solidFill>
                          <a:srgbClr val="363A52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기준표 23개 변수만 계승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047256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운영 데이터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실시간 발화 환경 구성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예측 입력 · P5 위험도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400002"/>
                  </a:ext>
                </a:extLst>
              </a:tr>
              <a:tr h="7848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 err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법령·매뉴얼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데이터셋 내 근거 부재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2000" b="1" i="0" u="none" strike="noStrike" noProof="0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RAG 근거 + 인용</a:t>
                      </a:r>
                      <a:endParaRPr lang="ko-KR" altLang="en-US" sz="2000" b="1" i="0" u="none" strike="noStrike" noProof="0" dirty="0" err="1">
                        <a:solidFill>
                          <a:srgbClr val="FAA95A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531019"/>
                  </a:ext>
                </a:extLst>
              </a:tr>
            </a:tbl>
          </a:graphicData>
        </a:graphic>
      </p:graphicFrame>
      <p:sp>
        <p:nvSpPr>
          <p:cNvPr id="10" name="TextBox 16">
            <a:extLst>
              <a:ext uri="{FF2B5EF4-FFF2-40B4-BE49-F238E27FC236}">
                <a16:creationId xmlns:a16="http://schemas.microsoft.com/office/drawing/2014/main" id="{5663023C-145C-7185-F4E6-4155021C9F2F}"/>
              </a:ext>
            </a:extLst>
          </p:cNvPr>
          <p:cNvSpPr txBox="1"/>
          <p:nvPr/>
        </p:nvSpPr>
        <p:spPr>
          <a:xfrm>
            <a:off x="3159955" y="7065890"/>
            <a:ext cx="11998960" cy="185420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3600" b="1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AI </a:t>
            </a:r>
            <a:r>
              <a:rPr lang="ko-KR" altLang="en-US" sz="3600" b="1" spc="-100" dirty="0" err="1">
                <a:solidFill>
                  <a:srgbClr val="363A52"/>
                </a:solidFill>
                <a:latin typeface="210 OmniGothic 040"/>
                <a:ea typeface="210 OmniGothic 040"/>
              </a:rPr>
              <a:t>Hub를</a:t>
            </a:r>
            <a:r>
              <a:rPr lang="ko-KR" altLang="en-US" sz="3600" b="1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 그대로 학습하지 않고</a:t>
            </a:r>
            <a:endParaRPr lang="ko-KR"/>
          </a:p>
          <a:p>
            <a:pPr algn="ctr">
              <a:lnSpc>
                <a:spcPct val="150000"/>
              </a:lnSpc>
            </a:pPr>
            <a:r>
              <a:rPr lang="ko-KR" sz="36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「보정 · 계승 · 예측 입력 · 근거 인용」</a:t>
            </a:r>
            <a:r>
              <a:rPr lang="ko-KR" altLang="en-US" sz="36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 </a:t>
            </a:r>
            <a:r>
              <a:rPr lang="ko-KR" sz="3600" b="1" spc="-100" dirty="0" err="1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으로</a:t>
            </a:r>
            <a:r>
              <a:rPr lang="ko-KR" sz="36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 목적에 맞게 활용</a:t>
            </a:r>
          </a:p>
        </p:txBody>
      </p:sp>
    </p:spTree>
    <p:extLst>
      <p:ext uri="{BB962C8B-B14F-4D97-AF65-F5344CB8AC3E}">
        <p14:creationId xmlns:p14="http://schemas.microsoft.com/office/powerpoint/2010/main" val="3537586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02800-6E3F-59DF-5184-1C88BC434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4C6A8A47-9FE8-2E89-CBE5-D4C249BBA1D9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C5FD047-B9F5-4F34-9B47-A188DF462504}"/>
              </a:ext>
            </a:extLst>
          </p:cNvPr>
          <p:cNvSpPr txBox="1"/>
          <p:nvPr/>
        </p:nvSpPr>
        <p:spPr>
          <a:xfrm>
            <a:off x="6153150" y="4699000"/>
            <a:ext cx="59817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개발 방법 및 체계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B8BD47-9F3F-69E1-00BE-832442C5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41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466C7-E54E-735C-6137-8658B1DEB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721647A-97EF-9D2F-19C1-D458FB1BC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B0203B8-CCF2-8C93-ACC9-8C0E422B6B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00" y="9436100"/>
            <a:ext cx="17170400" cy="508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4A6FC2F3-85BF-C6B8-F468-BBAD7AC6BDFE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1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전체 시스템 아키텍처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B0B7ED2-B05C-36C4-6659-39801B65A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22" name="Picture 3">
            <a:extLst>
              <a:ext uri="{FF2B5EF4-FFF2-40B4-BE49-F238E27FC236}">
                <a16:creationId xmlns:a16="http://schemas.microsoft.com/office/drawing/2014/main" id="{3B6CFF76-50E3-AC35-4193-FAB4EF6FD5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223" name="Picture 222" descr="fig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3501" y="1783080"/>
            <a:ext cx="13860998" cy="740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29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2A2F6-FEA5-79E4-CB9C-FEE92BA2B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D465FED-A175-0A56-B874-1252F2EA9D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6381CCB-F2C4-A6F6-4952-0FDD2EE283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0D7E224-53DC-57B7-DA68-E6D692E3C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3E3F8316-BD4B-2788-AA67-3D94E05825D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0" y="2584450"/>
            <a:ext cx="4876800" cy="5727700"/>
          </a:xfrm>
          <a:prstGeom prst="rect">
            <a:avLst/>
          </a:prstGeom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DED31D5B-28CB-7E4D-2F0A-4C5F0C92DA59}"/>
              </a:ext>
            </a:extLst>
          </p:cNvPr>
          <p:cNvSpPr txBox="1"/>
          <p:nvPr/>
        </p:nvSpPr>
        <p:spPr>
          <a:xfrm>
            <a:off x="3947092" y="3404252"/>
            <a:ext cx="2997200" cy="42564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01</a:t>
            </a:r>
            <a:r>
              <a:rPr 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 </a:t>
            </a:r>
            <a:r>
              <a:rPr lang="ko-KR" alt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산불 예측 모델</a:t>
            </a:r>
            <a:endParaRPr lang="en-US" sz="3000" b="1" i="0" u="none" strike="noStrike" dirty="0">
              <a:solidFill>
                <a:srgbClr val="FAA95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B0A7A4C-4E9F-301B-E704-0959C3BAF358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핵심 모델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331F5B-13B3-DA65-3D31-511C13AA6A63}"/>
              </a:ext>
            </a:extLst>
          </p:cNvPr>
          <p:cNvSpPr txBox="1"/>
          <p:nvPr/>
        </p:nvSpPr>
        <p:spPr>
          <a:xfrm>
            <a:off x="3603398" y="5256796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도달시각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확산속도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화선강도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E731D6-FD68-5582-B6AE-2AF50ABC8230}"/>
              </a:ext>
            </a:extLst>
          </p:cNvPr>
          <p:cNvSpPr txBox="1"/>
          <p:nvPr/>
        </p:nvSpPr>
        <p:spPr>
          <a:xfrm>
            <a:off x="4293224" y="4690224"/>
            <a:ext cx="2395651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ELMFIRE </a:t>
            </a:r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확산 예측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05186D-EE87-0193-E7DD-0AEC63B9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B4476-7E10-0B40-7648-2E22CE53BD5A}"/>
              </a:ext>
            </a:extLst>
          </p:cNvPr>
          <p:cNvSpPr txBox="1"/>
          <p:nvPr/>
        </p:nvSpPr>
        <p:spPr>
          <a:xfrm>
            <a:off x="4407212" y="6423331"/>
            <a:ext cx="2082176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산불 위험도 (P5)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4E4595-CB2E-2C5E-557E-8F1523AFF25F}"/>
              </a:ext>
            </a:extLst>
          </p:cNvPr>
          <p:cNvSpPr txBox="1"/>
          <p:nvPr/>
        </p:nvSpPr>
        <p:spPr>
          <a:xfrm>
            <a:off x="3565298" y="7014130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기상·지형·연료·인프라 23개 변수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</a:p>
        </p:txBody>
      </p:sp>
      <p:pic>
        <p:nvPicPr>
          <p:cNvPr id="11" name="Picture 15">
            <a:extLst>
              <a:ext uri="{FF2B5EF4-FFF2-40B4-BE49-F238E27FC236}">
                <a16:creationId xmlns:a16="http://schemas.microsoft.com/office/drawing/2014/main" id="{75194738-9F26-1E6D-4457-CD81134921E8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3200" y="2584450"/>
            <a:ext cx="4876800" cy="5727700"/>
          </a:xfrm>
          <a:prstGeom prst="rect">
            <a:avLst/>
          </a:prstGeom>
        </p:spPr>
      </p:pic>
      <p:sp>
        <p:nvSpPr>
          <p:cNvPr id="13" name="TextBox 25">
            <a:extLst>
              <a:ext uri="{FF2B5EF4-FFF2-40B4-BE49-F238E27FC236}">
                <a16:creationId xmlns:a16="http://schemas.microsoft.com/office/drawing/2014/main" id="{4444D691-7E74-6F91-25F9-E7AF6DF89781}"/>
              </a:ext>
            </a:extLst>
          </p:cNvPr>
          <p:cNvSpPr txBox="1"/>
          <p:nvPr/>
        </p:nvSpPr>
        <p:spPr>
          <a:xfrm>
            <a:off x="10711146" y="3396187"/>
            <a:ext cx="4180908" cy="41537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02 대응 제안 생성 모델</a:t>
            </a:r>
            <a:r>
              <a:rPr 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ko-KR" alt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</a:p>
          <a:p>
            <a:pPr lvl="0" algn="ctr">
              <a:lnSpc>
                <a:spcPct val="116199"/>
              </a:lnSpc>
            </a:pPr>
            <a:endParaRPr lang="en-US" sz="3000" b="1" i="0" u="none" strike="noStrike" dirty="0">
              <a:solidFill>
                <a:srgbClr val="FAA95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4723FD-162E-D573-F86F-35D287D769A4}"/>
              </a:ext>
            </a:extLst>
          </p:cNvPr>
          <p:cNvSpPr txBox="1"/>
          <p:nvPr/>
        </p:nvSpPr>
        <p:spPr>
          <a:xfrm>
            <a:off x="10918598" y="5256796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대응단계 · 위험구역 · 대피소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Pretendard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2A30AF-B99F-4440-925F-5BA8F90090CC}"/>
              </a:ext>
            </a:extLst>
          </p:cNvPr>
          <p:cNvSpPr txBox="1"/>
          <p:nvPr/>
        </p:nvSpPr>
        <p:spPr>
          <a:xfrm>
            <a:off x="11282561" y="4690224"/>
            <a:ext cx="3038078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규칙 엔진 판정</a:t>
            </a:r>
            <a:r>
              <a:rPr lang="en-US" altLang="ko-KR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/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370487-31B6-2964-262F-A52225745ED9}"/>
              </a:ext>
            </a:extLst>
          </p:cNvPr>
          <p:cNvSpPr txBox="1"/>
          <p:nvPr/>
        </p:nvSpPr>
        <p:spPr>
          <a:xfrm>
            <a:off x="10999873" y="6423331"/>
            <a:ext cx="3593788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99" b="1" spc="-10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KURE-v1 + FAISS + EXAONE</a:t>
            </a:r>
            <a:endParaRPr lang="en-US" altLang="ko-KR" sz="2099" b="1" spc="-100" dirty="0">
              <a:solidFill>
                <a:srgbClr val="FAA95A"/>
              </a:solidFill>
              <a:latin typeface="210 OmniGothic 030"/>
              <a:ea typeface="210 OmniGothic 030"/>
              <a:cs typeface="Pretendard Bol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8AA395-EA31-3E40-0EED-C5A6699CDD74}"/>
              </a:ext>
            </a:extLst>
          </p:cNvPr>
          <p:cNvSpPr txBox="1"/>
          <p:nvPr/>
        </p:nvSpPr>
        <p:spPr>
          <a:xfrm>
            <a:off x="10711146" y="7014130"/>
            <a:ext cx="4180908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에이전트 2개 · 제안과 근거 인용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24937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7E7FB-2C02-B367-0096-C28A2F31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1F3AAB3-8EB9-76E3-56CE-DDDDDE5F5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D438FEC-F7E4-A2BE-C695-E8A74FB814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9914492-8D08-C32F-2A47-D2E9DB5BC1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77B04208-0707-E1E3-E301-B7AE0E8D9CFA}"/>
              </a:ext>
            </a:extLst>
          </p:cNvPr>
          <p:cNvSpPr txBox="1"/>
          <p:nvPr/>
        </p:nvSpPr>
        <p:spPr>
          <a:xfrm>
            <a:off x="825500" y="469900"/>
            <a:ext cx="83185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의사결정 구성도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0D66CF-9AA3-FD38-3294-84EC8210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8" name="Picture 27" descr="s0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613050"/>
            <a:ext cx="16642080" cy="538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28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31005-CBBF-2B36-A52B-3C24992DE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15">
            <a:extLst>
              <a:ext uri="{FF2B5EF4-FFF2-40B4-BE49-F238E27FC236}">
                <a16:creationId xmlns:a16="http://schemas.microsoft.com/office/drawing/2014/main" id="{5217C4D7-11C9-7745-8A58-FF2F5C2DDB80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8300" y="1967470"/>
            <a:ext cx="4876800" cy="5290065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9ADB5C2-5F0F-C6F0-2D05-A09B8E362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49A3ACB-4827-526A-BD33-883A97E32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78CD6BB-E071-DF59-3A96-A961521FFA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617B740E-37A0-882B-E104-5B37D9E31113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0" y="1987035"/>
            <a:ext cx="4876800" cy="5290065"/>
          </a:xfrm>
          <a:prstGeom prst="rect">
            <a:avLst/>
          </a:prstGeom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0FE18837-6122-C358-F118-C2B380757EFF}"/>
              </a:ext>
            </a:extLst>
          </p:cNvPr>
          <p:cNvSpPr txBox="1"/>
          <p:nvPr/>
        </p:nvSpPr>
        <p:spPr>
          <a:xfrm>
            <a:off x="4544899" y="2397912"/>
            <a:ext cx="1806802" cy="41537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 dirty="0">
                <a:solidFill>
                  <a:srgbClr val="FAA95A"/>
                </a:solidFill>
                <a:latin typeface="210 OmniGothic 050" panose="020B0600000101010101" charset="-127"/>
                <a:ea typeface="210 OmniGothic 050" panose="020B0600000101010101" charset="-127"/>
                <a:cs typeface="Pretendard Bold"/>
              </a:rPr>
              <a:t>FARSITE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8323007-FEBC-6B69-383D-999DC7074F6F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2.1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산불 예측 모델 </a:t>
            </a:r>
            <a:r>
              <a:rPr lang="en-US" altLang="ko-KR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- ELMFIRE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B8F523-999B-3DF0-9DD0-461D08EA1380}"/>
              </a:ext>
            </a:extLst>
          </p:cNvPr>
          <p:cNvSpPr txBox="1"/>
          <p:nvPr/>
        </p:nvSpPr>
        <p:spPr>
          <a:xfrm>
            <a:off x="4582999" y="3555485"/>
            <a:ext cx="1806802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Windows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중심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856CB4-A3E2-9352-5EB2-701657AC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0F706-6453-D0BC-641D-5B6FAA9BFFD5}"/>
              </a:ext>
            </a:extLst>
          </p:cNvPr>
          <p:cNvSpPr txBox="1"/>
          <p:nvPr/>
        </p:nvSpPr>
        <p:spPr>
          <a:xfrm>
            <a:off x="3603398" y="4415950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연료 파라미터 변경 시 소스 수정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F94D44-4DA9-DE64-D11D-681A56C7F999}"/>
              </a:ext>
            </a:extLst>
          </p:cNvPr>
          <p:cNvSpPr txBox="1"/>
          <p:nvPr/>
        </p:nvSpPr>
        <p:spPr>
          <a:xfrm>
            <a:off x="3565298" y="5276415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경계점 좌표 별도 관리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Pretendard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7BB31-50AE-4B1C-8C98-3FBCE004EA3C}"/>
              </a:ext>
            </a:extLst>
          </p:cNvPr>
          <p:cNvSpPr txBox="1"/>
          <p:nvPr/>
        </p:nvSpPr>
        <p:spPr>
          <a:xfrm>
            <a:off x="3565298" y="6197920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IoU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보정 루프 구현 부담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Pretendard Bold"/>
            </a:endParaRP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B95140E1-8A87-FF5E-5F2E-A6BB953F5D82}"/>
              </a:ext>
            </a:extLst>
          </p:cNvPr>
          <p:cNvSpPr txBox="1"/>
          <p:nvPr/>
        </p:nvSpPr>
        <p:spPr>
          <a:xfrm>
            <a:off x="12063299" y="2397912"/>
            <a:ext cx="1806802" cy="41537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 dirty="0">
                <a:solidFill>
                  <a:srgbClr val="FAA95A"/>
                </a:solidFill>
                <a:latin typeface="210 OmniGothic 050" panose="020B0600000101010101" charset="-127"/>
                <a:ea typeface="210 OmniGothic 050" panose="020B0600000101010101" charset="-127"/>
                <a:cs typeface="Pretendard Bold"/>
              </a:rPr>
              <a:t>ELMFIRE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D0BA8F-3C95-405E-D00F-2F9664187168}"/>
              </a:ext>
            </a:extLst>
          </p:cNvPr>
          <p:cNvSpPr txBox="1"/>
          <p:nvPr/>
        </p:nvSpPr>
        <p:spPr>
          <a:xfrm>
            <a:off x="11435499" y="3555485"/>
            <a:ext cx="3138601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Linux · Docker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공식 지원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76A2FB-B4F0-8B1A-D3B6-26377ADBE8FC}"/>
              </a:ext>
            </a:extLst>
          </p:cNvPr>
          <p:cNvSpPr txBox="1"/>
          <p:nvPr/>
        </p:nvSpPr>
        <p:spPr>
          <a:xfrm>
            <a:off x="11121798" y="4415950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fuel_models.csv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외부 제어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CCD8AC-2D73-6503-E2CC-65252D9F58FA}"/>
              </a:ext>
            </a:extLst>
          </p:cNvPr>
          <p:cNvSpPr txBox="1"/>
          <p:nvPr/>
        </p:nvSpPr>
        <p:spPr>
          <a:xfrm>
            <a:off x="11083698" y="5276415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격자 기반 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GeoTIFF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연동</a:t>
            </a:r>
            <a:endParaRPr lang="ko-KR" altLang="en-US" sz="2099" spc="-100" dirty="0" err="1">
              <a:solidFill>
                <a:srgbClr val="363A52"/>
              </a:solidFill>
              <a:latin typeface="210 OmniGothic 030"/>
              <a:ea typeface="210 OmniGothic 030"/>
              <a:cs typeface="Pretendard Bold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904605D-F9D1-8CE8-ED83-D8FA7ED27208}"/>
              </a:ext>
            </a:extLst>
          </p:cNvPr>
          <p:cNvGrpSpPr/>
          <p:nvPr/>
        </p:nvGrpSpPr>
        <p:grpSpPr>
          <a:xfrm>
            <a:off x="12001272" y="5946614"/>
            <a:ext cx="2007053" cy="1006121"/>
            <a:chOff x="5791200" y="7274276"/>
            <a:chExt cx="6629400" cy="1006121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D6E1B0C3-7929-67DC-C83C-B09146997FEE}"/>
                </a:ext>
              </a:extLst>
            </p:cNvPr>
            <p:cNvSpPr/>
            <p:nvPr/>
          </p:nvSpPr>
          <p:spPr>
            <a:xfrm>
              <a:off x="5791200" y="7274276"/>
              <a:ext cx="6629400" cy="1006121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CD518C5-1906-4979-1641-5F4AE62FE547}"/>
                </a:ext>
              </a:extLst>
            </p:cNvPr>
            <p:cNvSpPr txBox="1"/>
            <p:nvPr/>
          </p:nvSpPr>
          <p:spPr>
            <a:xfrm>
              <a:off x="6110060" y="7508031"/>
              <a:ext cx="5991676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500" b="1" i="0" u="none" strike="noStrike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채택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AC5B6FF-8001-EBB7-9183-0D4E07AD1845}"/>
              </a:ext>
            </a:extLst>
          </p:cNvPr>
          <p:cNvSpPr txBox="1"/>
          <p:nvPr/>
        </p:nvSpPr>
        <p:spPr>
          <a:xfrm>
            <a:off x="8854224" y="4415950"/>
            <a:ext cx="7446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VS</a:t>
            </a:r>
            <a:endParaRPr lang="ko-KR" altLang="en-US" sz="3000" b="1" spc="-100" dirty="0">
              <a:solidFill>
                <a:srgbClr val="363A52"/>
              </a:solidFill>
              <a:latin typeface="210 OmniGothic 030"/>
              <a:ea typeface="210 OmniGothic 030"/>
              <a:cs typeface="Pretendard Bold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BD50C51-E3B9-E1BC-F421-0CF3DDFAF87B}"/>
              </a:ext>
            </a:extLst>
          </p:cNvPr>
          <p:cNvSpPr/>
          <p:nvPr/>
        </p:nvSpPr>
        <p:spPr>
          <a:xfrm>
            <a:off x="3047999" y="7665560"/>
            <a:ext cx="12395201" cy="100612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17CB27-9627-40B3-373D-927F1AFF98D3}"/>
              </a:ext>
            </a:extLst>
          </p:cNvPr>
          <p:cNvSpPr txBox="1"/>
          <p:nvPr/>
        </p:nvSpPr>
        <p:spPr>
          <a:xfrm>
            <a:off x="3073051" y="7885180"/>
            <a:ext cx="1237014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선택 기준  </a:t>
            </a: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|  </a:t>
            </a: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서버 자동화 </a:t>
            </a: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파라미터 보정 </a:t>
            </a: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래스터 파이프라인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7D38A6-17CA-7750-85F4-75F2C6AF02E9}"/>
              </a:ext>
            </a:extLst>
          </p:cNvPr>
          <p:cNvSpPr/>
          <p:nvPr/>
        </p:nvSpPr>
        <p:spPr>
          <a:xfrm>
            <a:off x="10589216" y="2019814"/>
            <a:ext cx="4815883" cy="5175845"/>
          </a:xfrm>
          <a:prstGeom prst="rect">
            <a:avLst/>
          </a:prstGeom>
          <a:noFill/>
          <a:ln w="76200">
            <a:solidFill>
              <a:srgbClr val="FAA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158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9244F-AEF1-5CE3-E8B8-1841B35FB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5">
            <a:extLst>
              <a:ext uri="{FF2B5EF4-FFF2-40B4-BE49-F238E27FC236}">
                <a16:creationId xmlns:a16="http://schemas.microsoft.com/office/drawing/2014/main" id="{4E65CEDF-995B-6AA4-590C-962686DBCE65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9766" y="2986051"/>
            <a:ext cx="3038928" cy="25019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A58A233-28A5-384F-EE9F-F89C5B20D2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45F8C67-5EFE-8B14-1E93-6AAFEB6EEE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7A46943-27C3-036E-EDC2-8B003A14BD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B10AC3C9-EF65-A76C-2D1F-6EE2137559F2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2.1 </a:t>
            </a:r>
            <a:r>
              <a:rPr lang="en-US" altLang="ko-KR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ELMFIRE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처리 흐름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8BC520-6E31-83FE-2504-C8E1FE45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AE94078F-5347-113D-9F82-7ED32BB7E4D5}"/>
              </a:ext>
            </a:extLst>
          </p:cNvPr>
          <p:cNvSpPr/>
          <p:nvPr/>
        </p:nvSpPr>
        <p:spPr>
          <a:xfrm>
            <a:off x="2209801" y="6222328"/>
            <a:ext cx="14249400" cy="1892972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7FD0CA-9A13-4BCC-0791-1769E2583839}"/>
              </a:ext>
            </a:extLst>
          </p:cNvPr>
          <p:cNvSpPr txBox="1"/>
          <p:nvPr/>
        </p:nvSpPr>
        <p:spPr>
          <a:xfrm>
            <a:off x="2598361" y="6487032"/>
            <a:ext cx="342143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연료 파라미터 보정 루프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7EF5B5CC-FCAE-2EEF-6C0E-8264F206393F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060" y="2969722"/>
            <a:ext cx="3038928" cy="2501900"/>
          </a:xfrm>
          <a:prstGeom prst="rect">
            <a:avLst/>
          </a:prstGeom>
        </p:spPr>
      </p:pic>
      <p:sp>
        <p:nvSpPr>
          <p:cNvPr id="11" name="TextBox 25">
            <a:extLst>
              <a:ext uri="{FF2B5EF4-FFF2-40B4-BE49-F238E27FC236}">
                <a16:creationId xmlns:a16="http://schemas.microsoft.com/office/drawing/2014/main" id="{6F2276C9-24C9-7E65-3DC1-1743985DD503}"/>
              </a:ext>
            </a:extLst>
          </p:cNvPr>
          <p:cNvSpPr txBox="1"/>
          <p:nvPr/>
        </p:nvSpPr>
        <p:spPr>
          <a:xfrm>
            <a:off x="1496315" y="3774358"/>
            <a:ext cx="1366417" cy="3739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입력 격자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9121E6-33E7-272F-8752-752CAE3B38CF}"/>
              </a:ext>
            </a:extLst>
          </p:cNvPr>
          <p:cNvSpPr txBox="1"/>
          <p:nvPr/>
        </p:nvSpPr>
        <p:spPr>
          <a:xfrm>
            <a:off x="1089660" y="4275101"/>
            <a:ext cx="2179729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DEM·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임상도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인프라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B380D6B-37E1-D1BB-45B2-9FE49C6EDC6F}"/>
              </a:ext>
            </a:extLst>
          </p:cNvPr>
          <p:cNvSpPr>
            <a:spLocks noGrp="1"/>
          </p:cNvSpPr>
          <p:nvPr/>
        </p:nvSpPr>
        <p:spPr>
          <a:xfrm>
            <a:off x="3644900" y="3886341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pic>
        <p:nvPicPr>
          <p:cNvPr id="55" name="Picture 15">
            <a:extLst>
              <a:ext uri="{FF2B5EF4-FFF2-40B4-BE49-F238E27FC236}">
                <a16:creationId xmlns:a16="http://schemas.microsoft.com/office/drawing/2014/main" id="{FBDE4076-F65B-4778-552F-B5E49EEAE66C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4913" y="2986051"/>
            <a:ext cx="3038928" cy="2501900"/>
          </a:xfrm>
          <a:prstGeom prst="rect">
            <a:avLst/>
          </a:prstGeom>
        </p:spPr>
      </p:pic>
      <p:pic>
        <p:nvPicPr>
          <p:cNvPr id="57" name="Picture 15">
            <a:extLst>
              <a:ext uri="{FF2B5EF4-FFF2-40B4-BE49-F238E27FC236}">
                <a16:creationId xmlns:a16="http://schemas.microsoft.com/office/drawing/2014/main" id="{1E2EA1FA-0F7F-5E03-3571-9B84961C31C7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619" y="2961368"/>
            <a:ext cx="3038928" cy="2501900"/>
          </a:xfrm>
          <a:prstGeom prst="rect">
            <a:avLst/>
          </a:prstGeom>
        </p:spPr>
      </p:pic>
      <p:pic>
        <p:nvPicPr>
          <p:cNvPr id="59" name="Picture 15">
            <a:extLst>
              <a:ext uri="{FF2B5EF4-FFF2-40B4-BE49-F238E27FC236}">
                <a16:creationId xmlns:a16="http://schemas.microsoft.com/office/drawing/2014/main" id="{C84B7FA1-F02C-EBA5-5A29-4AAAC1A6BAF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39472" y="2933700"/>
            <a:ext cx="3038928" cy="2501900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id="{FA894B80-FF05-C3AD-047E-537C16E57122}"/>
              </a:ext>
            </a:extLst>
          </p:cNvPr>
          <p:cNvSpPr>
            <a:spLocks noGrp="1"/>
          </p:cNvSpPr>
          <p:nvPr/>
        </p:nvSpPr>
        <p:spPr>
          <a:xfrm>
            <a:off x="7136053" y="3886340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A24B16B-D6CA-83C5-2230-3C91D28C5717}"/>
              </a:ext>
            </a:extLst>
          </p:cNvPr>
          <p:cNvSpPr>
            <a:spLocks noGrp="1"/>
          </p:cNvSpPr>
          <p:nvPr/>
        </p:nvSpPr>
        <p:spPr>
          <a:xfrm>
            <a:off x="10627206" y="3886339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E3BF1A6-2D2F-02FA-2AB2-D91AC1D0C224}"/>
              </a:ext>
            </a:extLst>
          </p:cNvPr>
          <p:cNvSpPr>
            <a:spLocks noGrp="1"/>
          </p:cNvSpPr>
          <p:nvPr/>
        </p:nvSpPr>
        <p:spPr>
          <a:xfrm>
            <a:off x="14125760" y="3886339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1E5C23-F44B-2AB4-25F0-9398E22D9975}"/>
              </a:ext>
            </a:extLst>
          </p:cNvPr>
          <p:cNvSpPr txBox="1"/>
          <p:nvPr/>
        </p:nvSpPr>
        <p:spPr>
          <a:xfrm>
            <a:off x="1878353" y="3167220"/>
            <a:ext cx="6168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01</a:t>
            </a:r>
            <a:endParaRPr lang="ko-KR" altLang="en-US" dirty="0"/>
          </a:p>
        </p:txBody>
      </p:sp>
      <p:sp>
        <p:nvSpPr>
          <p:cNvPr id="71" name="TextBox 25">
            <a:extLst>
              <a:ext uri="{FF2B5EF4-FFF2-40B4-BE49-F238E27FC236}">
                <a16:creationId xmlns:a16="http://schemas.microsoft.com/office/drawing/2014/main" id="{EA895F64-C34C-14D7-4EC2-51A574963E8A}"/>
              </a:ext>
            </a:extLst>
          </p:cNvPr>
          <p:cNvSpPr txBox="1"/>
          <p:nvPr/>
        </p:nvSpPr>
        <p:spPr>
          <a:xfrm>
            <a:off x="4928167" y="3719961"/>
            <a:ext cx="1502054" cy="3721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Rothermel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42A7A11-8B33-649A-9D8B-B37C5A339CB0}"/>
              </a:ext>
            </a:extLst>
          </p:cNvPr>
          <p:cNvSpPr txBox="1"/>
          <p:nvPr/>
        </p:nvSpPr>
        <p:spPr>
          <a:xfrm>
            <a:off x="4361139" y="4233047"/>
            <a:ext cx="262647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격자별 최대 확산속도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CCBF10-3C7B-BF15-9503-B99631E09490}"/>
              </a:ext>
            </a:extLst>
          </p:cNvPr>
          <p:cNvSpPr txBox="1"/>
          <p:nvPr/>
        </p:nvSpPr>
        <p:spPr>
          <a:xfrm>
            <a:off x="5382384" y="3169034"/>
            <a:ext cx="7390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02</a:t>
            </a:r>
            <a:endParaRPr lang="ko-KR" altLang="en-US" dirty="0"/>
          </a:p>
        </p:txBody>
      </p:sp>
      <p:sp>
        <p:nvSpPr>
          <p:cNvPr id="77" name="TextBox 25">
            <a:extLst>
              <a:ext uri="{FF2B5EF4-FFF2-40B4-BE49-F238E27FC236}">
                <a16:creationId xmlns:a16="http://schemas.microsoft.com/office/drawing/2014/main" id="{7DBD7708-7A7E-0411-00DE-2AB598A1CBBE}"/>
              </a:ext>
            </a:extLst>
          </p:cNvPr>
          <p:cNvSpPr txBox="1"/>
          <p:nvPr/>
        </p:nvSpPr>
        <p:spPr>
          <a:xfrm>
            <a:off x="8455277" y="3774358"/>
            <a:ext cx="1366417" cy="3739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Anderson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F06BC80-B642-40D0-33A7-C1B79E0CE9E5}"/>
              </a:ext>
            </a:extLst>
          </p:cNvPr>
          <p:cNvSpPr txBox="1"/>
          <p:nvPr/>
        </p:nvSpPr>
        <p:spPr>
          <a:xfrm>
            <a:off x="7855856" y="4275101"/>
            <a:ext cx="258821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풍속 기반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차원 방향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A8722FA-93AA-C5E1-5D63-40CE2A9778C5}"/>
              </a:ext>
            </a:extLst>
          </p:cNvPr>
          <p:cNvSpPr txBox="1"/>
          <p:nvPr/>
        </p:nvSpPr>
        <p:spPr>
          <a:xfrm>
            <a:off x="8837315" y="3167220"/>
            <a:ext cx="7130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03</a:t>
            </a:r>
            <a:endParaRPr lang="ko-KR" altLang="en-US" dirty="0"/>
          </a:p>
        </p:txBody>
      </p:sp>
      <p:sp>
        <p:nvSpPr>
          <p:cNvPr id="85" name="TextBox 25">
            <a:extLst>
              <a:ext uri="{FF2B5EF4-FFF2-40B4-BE49-F238E27FC236}">
                <a16:creationId xmlns:a16="http://schemas.microsoft.com/office/drawing/2014/main" id="{1C2D86EB-CEC4-2E74-7F7B-9B9730262EA1}"/>
              </a:ext>
            </a:extLst>
          </p:cNvPr>
          <p:cNvSpPr txBox="1"/>
          <p:nvPr/>
        </p:nvSpPr>
        <p:spPr>
          <a:xfrm>
            <a:off x="11922631" y="3778470"/>
            <a:ext cx="1366417" cy="3739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레벨셋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982D041-0749-C757-C28B-25A30BDC582D}"/>
              </a:ext>
            </a:extLst>
          </p:cNvPr>
          <p:cNvSpPr txBox="1"/>
          <p:nvPr/>
        </p:nvSpPr>
        <p:spPr>
          <a:xfrm>
            <a:off x="11304647" y="4275101"/>
            <a:ext cx="2602383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φ=0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경계의 시간 전진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D595AA-9202-FCAE-F9C6-2C0FD90098A7}"/>
              </a:ext>
            </a:extLst>
          </p:cNvPr>
          <p:cNvSpPr txBox="1"/>
          <p:nvPr/>
        </p:nvSpPr>
        <p:spPr>
          <a:xfrm>
            <a:off x="12304669" y="3171332"/>
            <a:ext cx="7707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04</a:t>
            </a:r>
            <a:endParaRPr lang="ko-KR" altLang="en-US" dirty="0"/>
          </a:p>
        </p:txBody>
      </p:sp>
      <p:sp>
        <p:nvSpPr>
          <p:cNvPr id="91" name="TextBox 25">
            <a:extLst>
              <a:ext uri="{FF2B5EF4-FFF2-40B4-BE49-F238E27FC236}">
                <a16:creationId xmlns:a16="http://schemas.microsoft.com/office/drawing/2014/main" id="{A573881E-B755-6BB5-6167-A6BDAB583CA2}"/>
              </a:ext>
            </a:extLst>
          </p:cNvPr>
          <p:cNvSpPr txBox="1"/>
          <p:nvPr/>
        </p:nvSpPr>
        <p:spPr>
          <a:xfrm>
            <a:off x="15473735" y="3774358"/>
            <a:ext cx="1366417" cy="3739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출력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0349742-F512-80D4-F061-471AD04439A9}"/>
              </a:ext>
            </a:extLst>
          </p:cNvPr>
          <p:cNvSpPr txBox="1"/>
          <p:nvPr/>
        </p:nvSpPr>
        <p:spPr>
          <a:xfrm>
            <a:off x="14958200" y="4275101"/>
            <a:ext cx="245926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TOA·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강도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화염 길이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6DAF6B0-90A5-7885-A71B-B92E430199CC}"/>
              </a:ext>
            </a:extLst>
          </p:cNvPr>
          <p:cNvSpPr txBox="1"/>
          <p:nvPr/>
        </p:nvSpPr>
        <p:spPr>
          <a:xfrm>
            <a:off x="15855773" y="3167220"/>
            <a:ext cx="7751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05</a:t>
            </a:r>
            <a:endParaRPr lang="ko-KR" alt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5556CC4-36D2-05C7-9BAA-7C9B6E4147CF}"/>
              </a:ext>
            </a:extLst>
          </p:cNvPr>
          <p:cNvSpPr txBox="1"/>
          <p:nvPr/>
        </p:nvSpPr>
        <p:spPr>
          <a:xfrm>
            <a:off x="6655508" y="6543857"/>
            <a:ext cx="257336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fuel_models.csv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설정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927912F-114E-E40E-7598-0FF9B4761AC0}"/>
              </a:ext>
            </a:extLst>
          </p:cNvPr>
          <p:cNvSpPr>
            <a:spLocks noGrp="1"/>
          </p:cNvSpPr>
          <p:nvPr/>
        </p:nvSpPr>
        <p:spPr>
          <a:xfrm>
            <a:off x="9208311" y="6487033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363A5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25FF4FE-990E-DFFD-75AC-0CB0C740DA61}"/>
              </a:ext>
            </a:extLst>
          </p:cNvPr>
          <p:cNvSpPr txBox="1"/>
          <p:nvPr/>
        </p:nvSpPr>
        <p:spPr>
          <a:xfrm>
            <a:off x="9589002" y="6549712"/>
            <a:ext cx="257336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실행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EE3DC13C-3681-6775-B858-BF265D193A04}"/>
              </a:ext>
            </a:extLst>
          </p:cNvPr>
          <p:cNvSpPr>
            <a:spLocks noGrp="1"/>
          </p:cNvSpPr>
          <p:nvPr/>
        </p:nvSpPr>
        <p:spPr>
          <a:xfrm>
            <a:off x="12017835" y="6487032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363A5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2BD9B51-D416-EF24-08D3-E03A08DF3343}"/>
              </a:ext>
            </a:extLst>
          </p:cNvPr>
          <p:cNvSpPr txBox="1"/>
          <p:nvPr/>
        </p:nvSpPr>
        <p:spPr>
          <a:xfrm>
            <a:off x="12514234" y="6558371"/>
            <a:ext cx="257336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실측 경계와 </a:t>
            </a: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IoU</a:t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39FF644-8B3E-65C6-D098-C0CDB270D0BB}"/>
              </a:ext>
            </a:extLst>
          </p:cNvPr>
          <p:cNvSpPr txBox="1"/>
          <p:nvPr/>
        </p:nvSpPr>
        <p:spPr>
          <a:xfrm>
            <a:off x="8523266" y="7366486"/>
            <a:ext cx="4228242" cy="454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↻ 베이지안 최적화로 수렴까지 반복</a:t>
            </a:r>
          </a:p>
        </p:txBody>
      </p:sp>
    </p:spTree>
    <p:extLst>
      <p:ext uri="{BB962C8B-B14F-4D97-AF65-F5344CB8AC3E}">
        <p14:creationId xmlns:p14="http://schemas.microsoft.com/office/powerpoint/2010/main" val="1137908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4CA0-692F-203E-38EB-1CE23A7B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785B9D9-0388-CA22-B4B1-83BAC0A647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3E9E427-2A57-6391-F78B-91D79E77F7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5AF7C38-A991-F759-88BB-DC98D36F5B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2A22F187-A026-178E-D586-9AB2A194C9FF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5.2.1 산불 위험도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277B19-8057-4036-5887-7B9E1A89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822960" y="1810512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예측마다 </a:t>
            </a:r>
            <a:r>
              <a:rPr lang="ko-KR" altLang="en-US" sz="26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5시간 범위(P5)</a:t>
            </a:r>
            <a:r>
              <a:rPr lang="ko-KR" alt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에서 계산하는 독립 지표 (1.00~5.00)</a:t>
            </a:r>
            <a:endParaRPr lang="ko-KR" altLang="en-US" sz="2600"/>
          </a:p>
        </p:txBody>
      </p:sp>
      <p:sp>
        <p:nvSpPr>
          <p:cNvPr id="29" name="Rounded Rectangle 28"/>
          <p:cNvSpPr/>
          <p:nvPr/>
        </p:nvSpPr>
        <p:spPr>
          <a:xfrm>
            <a:off x="822960" y="2743200"/>
            <a:ext cx="8229600" cy="4800600"/>
          </a:xfrm>
          <a:prstGeom prst="roundRect">
            <a:avLst>
              <a:gd name="adj" fmla="val 3428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297180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01  가중평균 — 23개 변수</a:t>
            </a:r>
            <a:endParaRPr lang="ko-KR" altLang="en-US" sz="2000"/>
          </a:p>
        </p:txBody>
      </p:sp>
      <p:sp>
        <p:nvSpPr>
          <p:cNvPr id="31" name="TextBox 30"/>
          <p:cNvSpPr txBox="1"/>
          <p:nvPr/>
        </p:nvSpPr>
        <p:spPr>
          <a:xfrm>
            <a:off x="1143000" y="370332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기상</a:t>
            </a:r>
            <a:endParaRPr lang="ko-KR" altLang="en-US" sz="1600"/>
          </a:p>
        </p:txBody>
      </p:sp>
      <p:sp>
        <p:nvSpPr>
          <p:cNvPr id="32" name="Rectangle 31"/>
          <p:cNvSpPr/>
          <p:nvPr/>
        </p:nvSpPr>
        <p:spPr>
          <a:xfrm>
            <a:off x="2286000" y="3794760"/>
            <a:ext cx="5120640" cy="256032"/>
          </a:xfrm>
          <a:prstGeom prst="rect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370332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0.372</a:t>
            </a:r>
            <a:endParaRPr lang="ko-KR" altLang="en-US" sz="1500"/>
          </a:p>
        </p:txBody>
      </p:sp>
      <p:sp>
        <p:nvSpPr>
          <p:cNvPr id="34" name="TextBox 33"/>
          <p:cNvSpPr txBox="1"/>
          <p:nvPr/>
        </p:nvSpPr>
        <p:spPr>
          <a:xfrm>
            <a:off x="1143000" y="434340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지형</a:t>
            </a:r>
            <a:endParaRPr lang="ko-KR" altLang="en-US" sz="1600"/>
          </a:p>
        </p:txBody>
      </p:sp>
      <p:sp>
        <p:nvSpPr>
          <p:cNvPr id="35" name="Rectangle 34"/>
          <p:cNvSpPr/>
          <p:nvPr/>
        </p:nvSpPr>
        <p:spPr>
          <a:xfrm>
            <a:off x="2286000" y="4434840"/>
            <a:ext cx="3950601" cy="256032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8041" y="434340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0.287</a:t>
            </a:r>
            <a:endParaRPr lang="ko-KR" altLang="en-US" sz="1500"/>
          </a:p>
        </p:txBody>
      </p:sp>
      <p:sp>
        <p:nvSpPr>
          <p:cNvPr id="37" name="TextBox 36"/>
          <p:cNvSpPr txBox="1"/>
          <p:nvPr/>
        </p:nvSpPr>
        <p:spPr>
          <a:xfrm>
            <a:off x="1143000" y="49834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연료</a:t>
            </a:r>
            <a:endParaRPr lang="ko-KR" altLang="en-US" sz="1600"/>
          </a:p>
        </p:txBody>
      </p:sp>
      <p:sp>
        <p:nvSpPr>
          <p:cNvPr id="38" name="Rectangle 37"/>
          <p:cNvSpPr/>
          <p:nvPr/>
        </p:nvSpPr>
        <p:spPr>
          <a:xfrm>
            <a:off x="2286000" y="5074920"/>
            <a:ext cx="3661533" cy="256032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8973" y="49834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0.266</a:t>
            </a:r>
            <a:endParaRPr lang="ko-KR" altLang="en-US" sz="1500"/>
          </a:p>
        </p:txBody>
      </p:sp>
      <p:sp>
        <p:nvSpPr>
          <p:cNvPr id="40" name="TextBox 39"/>
          <p:cNvSpPr txBox="1"/>
          <p:nvPr/>
        </p:nvSpPr>
        <p:spPr>
          <a:xfrm>
            <a:off x="1143000" y="56235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인프라</a:t>
            </a:r>
            <a:endParaRPr lang="ko-KR" altLang="en-US" sz="1600"/>
          </a:p>
        </p:txBody>
      </p:sp>
      <p:sp>
        <p:nvSpPr>
          <p:cNvPr id="41" name="Rectangle 40"/>
          <p:cNvSpPr/>
          <p:nvPr/>
        </p:nvSpPr>
        <p:spPr>
          <a:xfrm>
            <a:off x="2286000" y="5715000"/>
            <a:ext cx="1018622" cy="256032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96062" y="56235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0.074</a:t>
            </a:r>
            <a:endParaRPr lang="ko-KR" altLang="en-US" sz="1500"/>
          </a:p>
        </p:txBody>
      </p:sp>
      <p:sp>
        <p:nvSpPr>
          <p:cNvPr id="43" name="TextBox 42"/>
          <p:cNvSpPr txBox="1"/>
          <p:nvPr/>
        </p:nvSpPr>
        <p:spPr>
          <a:xfrm>
            <a:off x="1143000" y="635508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위험도 = Σ(가중치 × 변수 등급) ÷ Σ가중치   (Σ가중치 = 0.94)</a:t>
            </a:r>
            <a:endParaRPr lang="ko-KR" altLang="en-US" sz="1550"/>
          </a:p>
        </p:txBody>
      </p:sp>
      <p:sp>
        <p:nvSpPr>
          <p:cNvPr id="44" name="TextBox 43"/>
          <p:cNvSpPr txBox="1"/>
          <p:nvPr/>
        </p:nvSpPr>
        <p:spPr>
          <a:xfrm>
            <a:off x="1143000" y="685800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경사도_down(구간 겹침) · 도로 접근성(숫자 기준 없음)은 빼고 AI Hub 기준표 계승</a:t>
            </a:r>
            <a:endParaRPr lang="ko-KR" altLang="en-US" sz="1300"/>
          </a:p>
        </p:txBody>
      </p:sp>
      <p:sp>
        <p:nvSpPr>
          <p:cNvPr id="45" name="Rounded Rectangle 44"/>
          <p:cNvSpPr/>
          <p:nvPr/>
        </p:nvSpPr>
        <p:spPr>
          <a:xfrm>
            <a:off x="9281160" y="2743200"/>
            <a:ext cx="8183880" cy="4800600"/>
          </a:xfrm>
          <a:prstGeom prst="roundRect">
            <a:avLst>
              <a:gd name="adj" fmla="val 3428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0" y="2999232"/>
            <a:ext cx="75438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02  왜 P5 기준인가</a:t>
            </a:r>
            <a:endParaRPr lang="ko-KR" altLang="en-US" sz="2000"/>
          </a:p>
        </p:txBody>
      </p:sp>
      <p:sp>
        <p:nvSpPr>
          <p:cNvPr id="47" name="TextBox 46"/>
          <p:cNvSpPr txBox="1"/>
          <p:nvPr/>
        </p:nvSpPr>
        <p:spPr>
          <a:xfrm>
            <a:off x="9601200" y="3497072"/>
            <a:ext cx="7543800" cy="38638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 지점 조건만으로는 규모를 예측할 수 없음 — 101건 분석 ρ = 0.264(약함), 강릉 2022(4,190 ha)는 하위 20%</a:t>
            </a:r>
            <a:endParaRPr lang="ko-KR" altLang="en-US" sz="1500"/>
          </a:p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표준매뉴얼: 화선 도달 5시간 이내 = 전 주민 즉시 대피 기준(p.75)</a:t>
            </a:r>
            <a:endParaRPr lang="ko-KR" altLang="en-US" sz="1500"/>
          </a:p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그래서 불이 번지는 쪽의 연료 · 지형 · 마을(SGIS 취약계층 인구)을 반영</a:t>
            </a:r>
            <a:endParaRPr lang="ko-KR" altLang="en-US" sz="1500"/>
          </a:p>
          <a:p>
            <a:pPr algn="l" latinLnBrk="0" marL="201168" indent="-201168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산불위험지수 · 대응단계 등 다른 체계에 매핑하지 않음</a:t>
            </a:r>
            <a:endParaRPr lang="ko-KR" altLang="en-US" sz="1500"/>
          </a:p>
        </p:txBody>
      </p:sp>
      <p:sp>
        <p:nvSpPr>
          <p:cNvPr id="48" name="Rounded Rectangle 47"/>
          <p:cNvSpPr/>
          <p:nvPr/>
        </p:nvSpPr>
        <p:spPr>
          <a:xfrm>
            <a:off x="822960" y="777240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8E0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겹침 면적 비율로 가중</a:t>
            </a:r>
            <a:endParaRPr lang="ko-KR" altLang="en-US" sz="145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취약계층 인구 합산</a:t>
            </a:r>
            <a:endParaRPr lang="ko-KR" altLang="en-US" sz="1450"/>
          </a:p>
        </p:txBody>
      </p:sp>
      <p:sp>
        <p:nvSpPr>
          <p:cNvPr id="49" name="Rounded Rectangle 48"/>
          <p:cNvSpPr/>
          <p:nvPr/>
        </p:nvSpPr>
        <p:spPr>
          <a:xfrm>
            <a:off x="5029200" y="777240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8E0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P5가 겹치면 하나의 산불</a:t>
            </a:r>
            <a:endParaRPr lang="ko-KR" altLang="en-US" sz="145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합집합으로 1번 계산</a:t>
            </a:r>
            <a:endParaRPr lang="ko-KR" altLang="en-US" sz="1450"/>
          </a:p>
        </p:txBody>
      </p:sp>
      <p:sp>
        <p:nvSpPr>
          <p:cNvPr id="50" name="Rounded Rectangle 49"/>
          <p:cNvSpPr/>
          <p:nvPr/>
        </p:nvSpPr>
        <p:spPr>
          <a:xfrm>
            <a:off x="9235440" y="777240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8E0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예측 1회마다 1개</a:t>
            </a:r>
            <a:endParaRPr lang="ko-KR" altLang="en-US" sz="145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결측 변수는 빼고 계산</a:t>
            </a:r>
            <a:endParaRPr lang="ko-KR" altLang="en-US" sz="1450"/>
          </a:p>
        </p:txBody>
      </p:sp>
      <p:sp>
        <p:nvSpPr>
          <p:cNvPr id="51" name="Rounded Rectangle 50"/>
          <p:cNvSpPr/>
          <p:nvPr/>
        </p:nvSpPr>
        <p:spPr>
          <a:xfrm>
            <a:off x="13441680" y="777240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8E0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숫자 + 4요인 점수</a:t>
            </a:r>
            <a:endParaRPr lang="ko-KR" altLang="en-US" sz="145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예측 전 · 종료 시 숨김</a:t>
            </a:r>
            <a:endParaRPr lang="ko-KR" altLang="en-US" sz="1450"/>
          </a:p>
        </p:txBody>
      </p:sp>
    </p:spTree>
    <p:extLst>
      <p:ext uri="{BB962C8B-B14F-4D97-AF65-F5344CB8AC3E}">
        <p14:creationId xmlns:p14="http://schemas.microsoft.com/office/powerpoint/2010/main" val="1160147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345E-D315-6DE0-8DE9-E80D8F1E8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211A668-604B-0CFF-4AB1-112FA8A3E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D0AAA3F-5041-E509-E269-2CE84C1C5B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19FD666B-58E4-A7A7-4849-3D3119275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9225AC34-A6EE-F4E4-7DA6-F0A6974ADE6F}"/>
              </a:ext>
            </a:extLst>
          </p:cNvPr>
          <p:cNvSpPr txBox="1"/>
          <p:nvPr/>
        </p:nvSpPr>
        <p:spPr>
          <a:xfrm>
            <a:off x="825500" y="469900"/>
            <a:ext cx="8166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5.2.2 판단 항목과 규칙 판정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1CF00E-149B-E60B-A601-4799E2A2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822960" y="1810512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 1인을 위한 </a:t>
            </a:r>
            <a:r>
              <a:rPr lang="ko-KR" altLang="en-US" sz="26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진화 7 · 대피 7</a:t>
            </a:r>
            <a:r>
              <a:rPr lang="ko-KR" alt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판단 항목</a:t>
            </a:r>
            <a:endParaRPr lang="ko-KR" altLang="en-US" sz="2600"/>
          </a:p>
        </p:txBody>
      </p:sp>
      <p:sp>
        <p:nvSpPr>
          <p:cNvPr id="29" name="TextBox 28"/>
          <p:cNvSpPr txBox="1"/>
          <p:nvPr/>
        </p:nvSpPr>
        <p:spPr>
          <a:xfrm>
            <a:off x="822960" y="26974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진화 제안</a:t>
            </a:r>
            <a:endParaRPr lang="ko-KR" altLang="en-US" sz="1900"/>
          </a:p>
        </p:txBody>
      </p:sp>
      <p:sp>
        <p:nvSpPr>
          <p:cNvPr id="30" name="Rounded Rectangle 29"/>
          <p:cNvSpPr/>
          <p:nvPr/>
        </p:nvSpPr>
        <p:spPr>
          <a:xfrm>
            <a:off x="822960" y="3200400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2688" y="3328416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S1</a:t>
            </a:r>
            <a:endParaRPr lang="ko-KR" altLang="en-US" sz="1200"/>
          </a:p>
        </p:txBody>
      </p:sp>
      <p:sp>
        <p:nvSpPr>
          <p:cNvPr id="32" name="TextBox 31"/>
          <p:cNvSpPr txBox="1"/>
          <p:nvPr/>
        </p:nvSpPr>
        <p:spPr>
          <a:xfrm>
            <a:off x="1609344" y="3236976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대응단계 판단 · 격상 검토</a:t>
            </a:r>
            <a:endParaRPr lang="ko-KR" altLang="en-US" sz="1450"/>
          </a:p>
        </p:txBody>
      </p:sp>
      <p:sp>
        <p:nvSpPr>
          <p:cNvPr id="33" name="TextBox 32"/>
          <p:cNvSpPr txBox="1"/>
          <p:nvPr/>
        </p:nvSpPr>
        <p:spPr>
          <a:xfrm>
            <a:off x="4709160" y="3236976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협의</a:t>
            </a:r>
            <a:endParaRPr lang="ko-KR" altLang="en-US" sz="1250"/>
          </a:p>
        </p:txBody>
      </p:sp>
      <p:sp>
        <p:nvSpPr>
          <p:cNvPr id="34" name="Rounded Rectangle 33"/>
          <p:cNvSpPr/>
          <p:nvPr/>
        </p:nvSpPr>
        <p:spPr>
          <a:xfrm>
            <a:off x="822960" y="3913632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32688" y="404164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S2</a:t>
            </a:r>
            <a:endParaRPr lang="ko-KR" altLang="en-US" sz="1200"/>
          </a:p>
        </p:txBody>
      </p:sp>
      <p:sp>
        <p:nvSpPr>
          <p:cNvPr id="36" name="TextBox 35"/>
          <p:cNvSpPr txBox="1"/>
          <p:nvPr/>
        </p:nvSpPr>
        <p:spPr>
          <a:xfrm>
            <a:off x="1609344" y="3950208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 우선지역 · 보호대상</a:t>
            </a:r>
            <a:endParaRPr lang="ko-KR" altLang="en-US" sz="1450"/>
          </a:p>
        </p:txBody>
      </p:sp>
      <p:sp>
        <p:nvSpPr>
          <p:cNvPr id="37" name="TextBox 36"/>
          <p:cNvSpPr txBox="1"/>
          <p:nvPr/>
        </p:nvSpPr>
        <p:spPr>
          <a:xfrm>
            <a:off x="4709160" y="3950208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직접</a:t>
            </a:r>
            <a:endParaRPr lang="ko-KR" altLang="en-US" sz="1250"/>
          </a:p>
        </p:txBody>
      </p:sp>
      <p:sp>
        <p:nvSpPr>
          <p:cNvPr id="38" name="Rounded Rectangle 37"/>
          <p:cNvSpPr/>
          <p:nvPr/>
        </p:nvSpPr>
        <p:spPr>
          <a:xfrm>
            <a:off x="822960" y="4626864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32688" y="4754880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S3</a:t>
            </a:r>
            <a:endParaRPr lang="ko-KR" altLang="en-US" sz="1200"/>
          </a:p>
        </p:txBody>
      </p:sp>
      <p:sp>
        <p:nvSpPr>
          <p:cNvPr id="40" name="TextBox 39"/>
          <p:cNvSpPr txBox="1"/>
          <p:nvPr/>
        </p:nvSpPr>
        <p:spPr>
          <a:xfrm>
            <a:off x="1609344" y="4663440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진화자원 투입 · 배분 · 재배치</a:t>
            </a:r>
            <a:endParaRPr lang="ko-KR" altLang="en-US" sz="1450"/>
          </a:p>
        </p:txBody>
      </p:sp>
      <p:sp>
        <p:nvSpPr>
          <p:cNvPr id="41" name="TextBox 40"/>
          <p:cNvSpPr txBox="1"/>
          <p:nvPr/>
        </p:nvSpPr>
        <p:spPr>
          <a:xfrm>
            <a:off x="4709160" y="4663440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직접</a:t>
            </a:r>
            <a:endParaRPr lang="ko-KR" altLang="en-US" sz="1250"/>
          </a:p>
        </p:txBody>
      </p:sp>
      <p:sp>
        <p:nvSpPr>
          <p:cNvPr id="42" name="Rounded Rectangle 41"/>
          <p:cNvSpPr/>
          <p:nvPr/>
        </p:nvSpPr>
        <p:spPr>
          <a:xfrm>
            <a:off x="822960" y="5340096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32688" y="5468112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S4</a:t>
            </a:r>
            <a:endParaRPr lang="ko-KR" altLang="en-US" sz="1200"/>
          </a:p>
        </p:txBody>
      </p:sp>
      <p:sp>
        <p:nvSpPr>
          <p:cNvPr id="44" name="TextBox 43"/>
          <p:cNvSpPr txBox="1"/>
          <p:nvPr/>
        </p:nvSpPr>
        <p:spPr>
          <a:xfrm>
            <a:off x="1609344" y="5376672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 방식 · 시간대 전략</a:t>
            </a:r>
            <a:endParaRPr lang="ko-KR" altLang="en-US" sz="1450"/>
          </a:p>
        </p:txBody>
      </p:sp>
      <p:sp>
        <p:nvSpPr>
          <p:cNvPr id="45" name="TextBox 44"/>
          <p:cNvSpPr txBox="1"/>
          <p:nvPr/>
        </p:nvSpPr>
        <p:spPr>
          <a:xfrm>
            <a:off x="4709160" y="5376672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직접</a:t>
            </a:r>
            <a:endParaRPr lang="ko-KR" altLang="en-US" sz="1250"/>
          </a:p>
        </p:txBody>
      </p:sp>
      <p:sp>
        <p:nvSpPr>
          <p:cNvPr id="46" name="Rounded Rectangle 45"/>
          <p:cNvSpPr/>
          <p:nvPr/>
        </p:nvSpPr>
        <p:spPr>
          <a:xfrm>
            <a:off x="822960" y="6053328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32688" y="6181344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S5</a:t>
            </a:r>
            <a:endParaRPr lang="ko-KR" altLang="en-US" sz="1200"/>
          </a:p>
        </p:txBody>
      </p:sp>
      <p:sp>
        <p:nvSpPr>
          <p:cNvPr id="48" name="TextBox 47"/>
          <p:cNvSpPr txBox="1"/>
          <p:nvPr/>
        </p:nvSpPr>
        <p:spPr>
          <a:xfrm>
            <a:off x="1609344" y="6089904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시설 보호 조치</a:t>
            </a:r>
            <a:endParaRPr lang="ko-KR" altLang="en-US" sz="1450"/>
          </a:p>
        </p:txBody>
      </p:sp>
      <p:sp>
        <p:nvSpPr>
          <p:cNvPr id="49" name="TextBox 48"/>
          <p:cNvSpPr txBox="1"/>
          <p:nvPr/>
        </p:nvSpPr>
        <p:spPr>
          <a:xfrm>
            <a:off x="4709160" y="6089904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직접·요청</a:t>
            </a:r>
            <a:endParaRPr lang="ko-KR" altLang="en-US" sz="1250"/>
          </a:p>
        </p:txBody>
      </p:sp>
      <p:sp>
        <p:nvSpPr>
          <p:cNvPr id="50" name="Rounded Rectangle 49"/>
          <p:cNvSpPr/>
          <p:nvPr/>
        </p:nvSpPr>
        <p:spPr>
          <a:xfrm>
            <a:off x="822960" y="6766560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32688" y="6894576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S6</a:t>
            </a:r>
            <a:endParaRPr lang="ko-KR" altLang="en-US" sz="1200"/>
          </a:p>
        </p:txBody>
      </p:sp>
      <p:sp>
        <p:nvSpPr>
          <p:cNvPr id="52" name="TextBox 51"/>
          <p:cNvSpPr txBox="1"/>
          <p:nvPr/>
        </p:nvSpPr>
        <p:spPr>
          <a:xfrm>
            <a:off x="1609344" y="6803136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유관기관 동원 · 협조 요청</a:t>
            </a:r>
            <a:endParaRPr lang="ko-KR" altLang="en-US" sz="1450"/>
          </a:p>
        </p:txBody>
      </p:sp>
      <p:sp>
        <p:nvSpPr>
          <p:cNvPr id="53" name="TextBox 52"/>
          <p:cNvSpPr txBox="1"/>
          <p:nvPr/>
        </p:nvSpPr>
        <p:spPr>
          <a:xfrm>
            <a:off x="4709160" y="6803136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직접·요청</a:t>
            </a:r>
            <a:endParaRPr lang="ko-KR" altLang="en-US" sz="1250"/>
          </a:p>
        </p:txBody>
      </p:sp>
      <p:sp>
        <p:nvSpPr>
          <p:cNvPr id="54" name="Rounded Rectangle 53"/>
          <p:cNvSpPr/>
          <p:nvPr/>
        </p:nvSpPr>
        <p:spPr>
          <a:xfrm>
            <a:off x="822960" y="7479792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32688" y="760780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S7</a:t>
            </a:r>
            <a:endParaRPr lang="ko-KR" altLang="en-US" sz="1200"/>
          </a:p>
        </p:txBody>
      </p:sp>
      <p:sp>
        <p:nvSpPr>
          <p:cNvPr id="56" name="TextBox 55"/>
          <p:cNvSpPr txBox="1"/>
          <p:nvPr/>
        </p:nvSpPr>
        <p:spPr>
          <a:xfrm>
            <a:off x="1609344" y="7516368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진화인력 안전 · 투입 관리</a:t>
            </a:r>
            <a:endParaRPr lang="ko-KR" altLang="en-US" sz="1450"/>
          </a:p>
        </p:txBody>
      </p:sp>
      <p:sp>
        <p:nvSpPr>
          <p:cNvPr id="57" name="TextBox 56"/>
          <p:cNvSpPr txBox="1"/>
          <p:nvPr/>
        </p:nvSpPr>
        <p:spPr>
          <a:xfrm>
            <a:off x="4709160" y="7516368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직접</a:t>
            </a:r>
            <a:endParaRPr lang="ko-KR" altLang="en-US" sz="1250"/>
          </a:p>
        </p:txBody>
      </p:sp>
      <p:sp>
        <p:nvSpPr>
          <p:cNvPr id="58" name="TextBox 57"/>
          <p:cNvSpPr txBox="1"/>
          <p:nvPr/>
        </p:nvSpPr>
        <p:spPr>
          <a:xfrm>
            <a:off x="6080760" y="26974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대피 제안</a:t>
            </a:r>
            <a:endParaRPr lang="ko-KR" altLang="en-US" sz="1900"/>
          </a:p>
        </p:txBody>
      </p:sp>
      <p:sp>
        <p:nvSpPr>
          <p:cNvPr id="59" name="Rounded Rectangle 58"/>
          <p:cNvSpPr/>
          <p:nvPr/>
        </p:nvSpPr>
        <p:spPr>
          <a:xfrm>
            <a:off x="6080760" y="3200400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190488" y="3328416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E1</a:t>
            </a:r>
            <a:endParaRPr lang="ko-KR" altLang="en-US" sz="1200"/>
          </a:p>
        </p:txBody>
      </p:sp>
      <p:sp>
        <p:nvSpPr>
          <p:cNvPr id="61" name="TextBox 60"/>
          <p:cNvSpPr txBox="1"/>
          <p:nvPr/>
        </p:nvSpPr>
        <p:spPr>
          <a:xfrm>
            <a:off x="6867144" y="3236976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위험구역 설정</a:t>
            </a:r>
            <a:endParaRPr lang="ko-KR" altLang="en-US" sz="1450"/>
          </a:p>
        </p:txBody>
      </p:sp>
      <p:sp>
        <p:nvSpPr>
          <p:cNvPr id="62" name="TextBox 61"/>
          <p:cNvSpPr txBox="1"/>
          <p:nvPr/>
        </p:nvSpPr>
        <p:spPr>
          <a:xfrm>
            <a:off x="9966960" y="3236976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직접</a:t>
            </a:r>
            <a:endParaRPr lang="ko-KR" altLang="en-US" sz="1250"/>
          </a:p>
        </p:txBody>
      </p:sp>
      <p:sp>
        <p:nvSpPr>
          <p:cNvPr id="63" name="Rounded Rectangle 62"/>
          <p:cNvSpPr/>
          <p:nvPr/>
        </p:nvSpPr>
        <p:spPr>
          <a:xfrm>
            <a:off x="6080760" y="3913632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190488" y="404164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E2</a:t>
            </a:r>
            <a:endParaRPr lang="ko-KR" altLang="en-US" sz="1200"/>
          </a:p>
        </p:txBody>
      </p:sp>
      <p:sp>
        <p:nvSpPr>
          <p:cNvPr id="65" name="TextBox 64"/>
          <p:cNvSpPr txBox="1"/>
          <p:nvPr/>
        </p:nvSpPr>
        <p:spPr>
          <a:xfrm>
            <a:off x="6867144" y="3950208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대피 대상 · 순서 · 시점</a:t>
            </a:r>
            <a:endParaRPr lang="ko-KR" altLang="en-US" sz="1450"/>
          </a:p>
        </p:txBody>
      </p:sp>
      <p:sp>
        <p:nvSpPr>
          <p:cNvPr id="66" name="TextBox 65"/>
          <p:cNvSpPr txBox="1"/>
          <p:nvPr/>
        </p:nvSpPr>
        <p:spPr>
          <a:xfrm>
            <a:off x="9966960" y="3950208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직접</a:t>
            </a:r>
            <a:endParaRPr lang="ko-KR" altLang="en-US" sz="1250"/>
          </a:p>
        </p:txBody>
      </p:sp>
      <p:sp>
        <p:nvSpPr>
          <p:cNvPr id="67" name="Rounded Rectangle 66"/>
          <p:cNvSpPr/>
          <p:nvPr/>
        </p:nvSpPr>
        <p:spPr>
          <a:xfrm>
            <a:off x="6080760" y="4626864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190488" y="4754880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E3</a:t>
            </a:r>
            <a:endParaRPr lang="ko-KR" altLang="en-US" sz="1200"/>
          </a:p>
        </p:txBody>
      </p:sp>
      <p:sp>
        <p:nvSpPr>
          <p:cNvPr id="69" name="TextBox 68"/>
          <p:cNvSpPr txBox="1"/>
          <p:nvPr/>
        </p:nvSpPr>
        <p:spPr>
          <a:xfrm>
            <a:off x="6867144" y="4663440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취약시설 · 미대피 주민</a:t>
            </a:r>
            <a:endParaRPr lang="ko-KR" altLang="en-US" sz="1450"/>
          </a:p>
        </p:txBody>
      </p:sp>
      <p:sp>
        <p:nvSpPr>
          <p:cNvPr id="70" name="TextBox 69"/>
          <p:cNvSpPr txBox="1"/>
          <p:nvPr/>
        </p:nvSpPr>
        <p:spPr>
          <a:xfrm>
            <a:off x="9966960" y="4663440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직접</a:t>
            </a:r>
            <a:endParaRPr lang="ko-KR" altLang="en-US" sz="1250"/>
          </a:p>
        </p:txBody>
      </p:sp>
      <p:sp>
        <p:nvSpPr>
          <p:cNvPr id="71" name="Rounded Rectangle 70"/>
          <p:cNvSpPr/>
          <p:nvPr/>
        </p:nvSpPr>
        <p:spPr>
          <a:xfrm>
            <a:off x="6080760" y="5340096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190488" y="5468112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E4</a:t>
            </a:r>
            <a:endParaRPr lang="ko-KR" altLang="en-US" sz="1200"/>
          </a:p>
        </p:txBody>
      </p:sp>
      <p:sp>
        <p:nvSpPr>
          <p:cNvPr id="73" name="TextBox 72"/>
          <p:cNvSpPr txBox="1"/>
          <p:nvPr/>
        </p:nvSpPr>
        <p:spPr>
          <a:xfrm>
            <a:off x="6867144" y="5376672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대피소 배정 · 분산</a:t>
            </a:r>
            <a:endParaRPr lang="ko-KR" altLang="en-US" sz="1450"/>
          </a:p>
        </p:txBody>
      </p:sp>
      <p:sp>
        <p:nvSpPr>
          <p:cNvPr id="74" name="TextBox 73"/>
          <p:cNvSpPr txBox="1"/>
          <p:nvPr/>
        </p:nvSpPr>
        <p:spPr>
          <a:xfrm>
            <a:off x="9966960" y="5376672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직접</a:t>
            </a:r>
            <a:endParaRPr lang="ko-KR" altLang="en-US" sz="1250"/>
          </a:p>
        </p:txBody>
      </p:sp>
      <p:sp>
        <p:nvSpPr>
          <p:cNvPr id="75" name="Rounded Rectangle 74"/>
          <p:cNvSpPr/>
          <p:nvPr/>
        </p:nvSpPr>
        <p:spPr>
          <a:xfrm>
            <a:off x="6080760" y="6053328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90488" y="6181344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E5</a:t>
            </a:r>
            <a:endParaRPr lang="ko-KR" altLang="en-US" sz="1200"/>
          </a:p>
        </p:txBody>
      </p:sp>
      <p:sp>
        <p:nvSpPr>
          <p:cNvPr id="77" name="TextBox 76"/>
          <p:cNvSpPr txBox="1"/>
          <p:nvPr/>
        </p:nvSpPr>
        <p:spPr>
          <a:xfrm>
            <a:off x="6867144" y="6089904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대피 경로 · 교통통제</a:t>
            </a:r>
            <a:endParaRPr lang="ko-KR" altLang="en-US" sz="1450"/>
          </a:p>
        </p:txBody>
      </p:sp>
      <p:sp>
        <p:nvSpPr>
          <p:cNvPr id="78" name="TextBox 77"/>
          <p:cNvSpPr txBox="1"/>
          <p:nvPr/>
        </p:nvSpPr>
        <p:spPr>
          <a:xfrm>
            <a:off x="9966960" y="6089904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요청</a:t>
            </a:r>
            <a:endParaRPr lang="ko-KR" altLang="en-US" sz="1250"/>
          </a:p>
        </p:txBody>
      </p:sp>
      <p:sp>
        <p:nvSpPr>
          <p:cNvPr id="79" name="Rounded Rectangle 78"/>
          <p:cNvSpPr/>
          <p:nvPr/>
        </p:nvSpPr>
        <p:spPr>
          <a:xfrm>
            <a:off x="6080760" y="6766560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190488" y="6894576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E6</a:t>
            </a:r>
            <a:endParaRPr lang="ko-KR" altLang="en-US" sz="1200"/>
          </a:p>
        </p:txBody>
      </p:sp>
      <p:sp>
        <p:nvSpPr>
          <p:cNvPr id="81" name="TextBox 80"/>
          <p:cNvSpPr txBox="1"/>
          <p:nvPr/>
        </p:nvSpPr>
        <p:spPr>
          <a:xfrm>
            <a:off x="6867144" y="6803136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재난문자 · 방송 전파</a:t>
            </a:r>
            <a:endParaRPr lang="ko-KR" altLang="en-US" sz="1450"/>
          </a:p>
        </p:txBody>
      </p:sp>
      <p:sp>
        <p:nvSpPr>
          <p:cNvPr id="82" name="TextBox 81"/>
          <p:cNvSpPr txBox="1"/>
          <p:nvPr/>
        </p:nvSpPr>
        <p:spPr>
          <a:xfrm>
            <a:off x="9966960" y="6803136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직접</a:t>
            </a:r>
            <a:endParaRPr lang="ko-KR" altLang="en-US" sz="1250"/>
          </a:p>
        </p:txBody>
      </p:sp>
      <p:sp>
        <p:nvSpPr>
          <p:cNvPr id="83" name="Rounded Rectangle 82"/>
          <p:cNvSpPr/>
          <p:nvPr/>
        </p:nvSpPr>
        <p:spPr>
          <a:xfrm>
            <a:off x="6080760" y="7479792"/>
            <a:ext cx="5029200" cy="603504"/>
          </a:xfrm>
          <a:prstGeom prst="roundRect">
            <a:avLst>
              <a:gd name="adj" fmla="val 18181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190488" y="760780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E7</a:t>
            </a:r>
            <a:endParaRPr lang="ko-KR" altLang="en-US" sz="1200"/>
          </a:p>
        </p:txBody>
      </p:sp>
      <p:sp>
        <p:nvSpPr>
          <p:cNvPr id="85" name="TextBox 84"/>
          <p:cNvSpPr txBox="1"/>
          <p:nvPr/>
        </p:nvSpPr>
        <p:spPr>
          <a:xfrm>
            <a:off x="6867144" y="7516368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인명구조 · 긴급구조 요청</a:t>
            </a:r>
            <a:endParaRPr lang="ko-KR" altLang="en-US" sz="1450"/>
          </a:p>
        </p:txBody>
      </p:sp>
      <p:sp>
        <p:nvSpPr>
          <p:cNvPr id="86" name="TextBox 85"/>
          <p:cNvSpPr txBox="1"/>
          <p:nvPr/>
        </p:nvSpPr>
        <p:spPr>
          <a:xfrm>
            <a:off x="9966960" y="7516368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요청</a:t>
            </a:r>
            <a:endParaRPr lang="ko-KR" altLang="en-US" sz="1250"/>
          </a:p>
        </p:txBody>
      </p:sp>
      <p:sp>
        <p:nvSpPr>
          <p:cNvPr id="87" name="Rounded Rectangle 86"/>
          <p:cNvSpPr/>
          <p:nvPr/>
        </p:nvSpPr>
        <p:spPr>
          <a:xfrm>
            <a:off x="11430000" y="2697480"/>
            <a:ext cx="6035040" cy="5486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8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704320" y="288036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규칙 엔진 판정 — 경계값·수치가 있는 값만</a:t>
            </a:r>
            <a:endParaRPr lang="ko-KR" altLang="en-US" sz="1700"/>
          </a:p>
        </p:txBody>
      </p:sp>
      <p:sp>
        <p:nvSpPr>
          <p:cNvPr id="89" name="Rounded Rectangle 88"/>
          <p:cNvSpPr/>
          <p:nvPr/>
        </p:nvSpPr>
        <p:spPr>
          <a:xfrm>
            <a:off x="11704320" y="342900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대응단계</a:t>
            </a:r>
            <a:endParaRPr lang="ko-KR" altLang="en-US" sz="1250"/>
          </a:p>
        </p:txBody>
      </p:sp>
      <p:sp>
        <p:nvSpPr>
          <p:cNvPr id="90" name="TextBox 89"/>
          <p:cNvSpPr txBox="1"/>
          <p:nvPr/>
        </p:nvSpPr>
        <p:spPr>
          <a:xfrm>
            <a:off x="13167360" y="3392424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10 ha 미만 초기대응 · 10~100 ha 1단계 · 100 ha 이상 2단계</a:t>
            </a:r>
            <a:endParaRPr lang="ko-KR" altLang="en-US" sz="1300"/>
          </a:p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풍속 3·11 m/s 또는 주요시설 20동 우려 → 단계 상향</a:t>
            </a:r>
            <a:endParaRPr lang="ko-KR" altLang="en-US" sz="1300"/>
          </a:p>
        </p:txBody>
      </p:sp>
      <p:sp>
        <p:nvSpPr>
          <p:cNvPr id="91" name="Rounded Rectangle 90"/>
          <p:cNvSpPr/>
          <p:nvPr/>
        </p:nvSpPr>
        <p:spPr>
          <a:xfrm>
            <a:off x="11704320" y="489204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행정경계</a:t>
            </a:r>
            <a:endParaRPr lang="ko-KR" altLang="en-US" sz="1250"/>
          </a:p>
        </p:txBody>
      </p:sp>
      <p:sp>
        <p:nvSpPr>
          <p:cNvPr id="92" name="TextBox 91"/>
          <p:cNvSpPr txBox="1"/>
          <p:nvPr/>
        </p:nvSpPr>
        <p:spPr>
          <a:xfrm>
            <a:off x="13167360" y="4855464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2개 이상 시·군·구 → 시·도지사</a:t>
            </a:r>
            <a:endParaRPr lang="ko-KR" altLang="en-US" sz="1300"/>
          </a:p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2개 이상 시·도 → 산림청장 (지휘권 인계 안내, S6)</a:t>
            </a:r>
            <a:endParaRPr lang="ko-KR" altLang="en-US" sz="1300"/>
          </a:p>
        </p:txBody>
      </p:sp>
      <p:sp>
        <p:nvSpPr>
          <p:cNvPr id="93" name="Rounded Rectangle 92"/>
          <p:cNvSpPr/>
          <p:nvPr/>
        </p:nvSpPr>
        <p:spPr>
          <a:xfrm>
            <a:off x="11704320" y="635508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위험구역</a:t>
            </a:r>
            <a:endParaRPr lang="ko-KR" altLang="en-US" sz="1250"/>
          </a:p>
        </p:txBody>
      </p:sp>
      <p:sp>
        <p:nvSpPr>
          <p:cNvPr id="94" name="TextBox 93"/>
          <p:cNvSpPr txBox="1"/>
          <p:nvPr/>
        </p:nvSpPr>
        <p:spPr>
          <a:xfrm>
            <a:off x="13167360" y="6318504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P5(5시간 내 도달) = 위험구역(즉시)</a:t>
            </a:r>
            <a:endParaRPr lang="ko-KR" altLang="en-US" sz="1300"/>
          </a:p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P8(8시간 내 도달) = 잠재 위험구역(대기)</a:t>
            </a:r>
            <a:endParaRPr lang="ko-KR" altLang="en-US" sz="1300"/>
          </a:p>
        </p:txBody>
      </p:sp>
      <p:sp>
        <p:nvSpPr>
          <p:cNvPr id="95" name="TextBox 94"/>
          <p:cNvSpPr txBox="1"/>
          <p:nvPr/>
        </p:nvSpPr>
        <p:spPr>
          <a:xfrm>
            <a:off x="11704320" y="7726680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규칙이 정하지 않는 판단은 상황판단 에이전트가 판정 값과 근거로 작성</a:t>
            </a:r>
            <a:endParaRPr lang="ko-KR" altLang="en-US" sz="1200"/>
          </a:p>
        </p:txBody>
      </p:sp>
      <p:sp>
        <p:nvSpPr>
          <p:cNvPr id="96" name="TextBox 95"/>
          <p:cNvSpPr txBox="1"/>
          <p:nvPr/>
        </p:nvSpPr>
        <p:spPr>
          <a:xfrm>
            <a:off x="822960" y="8366760"/>
            <a:ext cx="1664208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권한: 직접 = 통합지휘권자가 지시 · 협의 = 상급 기관(산림청 등)과 협의 · 요청 = 다른 기관에 요청.  공식 발령(산림청장)과 구분해 권고 단계가 높으면 「격상 검토」(협의)를 제안합니다.</a:t>
            </a:r>
            <a:endParaRPr lang="ko-KR" altLang="en-US" sz="1250"/>
          </a:p>
        </p:txBody>
      </p:sp>
    </p:spTree>
    <p:extLst>
      <p:ext uri="{BB962C8B-B14F-4D97-AF65-F5344CB8AC3E}">
        <p14:creationId xmlns:p14="http://schemas.microsoft.com/office/powerpoint/2010/main" val="1025689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A49F-9AFE-A46E-0C51-7B0819AB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4A443B8-84A0-CAFF-702B-D49BC6F9E9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0887058-8B59-F502-7365-DA99F25F56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B4443C5-B529-B320-EC02-8841EE3E7B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7540DA89-5245-94EC-CFE9-197EF94C1C18}"/>
              </a:ext>
            </a:extLst>
          </p:cNvPr>
          <p:cNvSpPr txBox="1"/>
          <p:nvPr/>
        </p:nvSpPr>
        <p:spPr>
          <a:xfrm>
            <a:off x="825500" y="469900"/>
            <a:ext cx="8547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5.2.2 대응 제안 생성 — RAG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FEAA0F-B9C0-56AF-BA3F-A0BB8F356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8" name="Picture 27" descr="s0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1812950"/>
            <a:ext cx="16642080" cy="5380939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22960" y="7315200"/>
            <a:ext cx="5349240" cy="1783080"/>
          </a:xfrm>
          <a:prstGeom prst="roundRect">
            <a:avLst>
              <a:gd name="adj" fmla="val 9230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7571232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K 선택</a:t>
            </a:r>
            <a:endParaRPr lang="ko-KR" altLang="en-US" sz="1600"/>
          </a:p>
        </p:txBody>
      </p:sp>
      <p:sp>
        <p:nvSpPr>
          <p:cNvPr id="31" name="TextBox 30"/>
          <p:cNvSpPr txBox="1"/>
          <p:nvPr/>
        </p:nvSpPr>
        <p:spPr>
          <a:xfrm>
            <a:off x="1143000" y="7987792"/>
            <a:ext cx="4709160" cy="927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K = 3·5·7·10 비교 → 필요 근거 확보율@K ≥ 0.80인 K 중 (충실도 + 관련도) ÷ 2가 가장 높은 K</a:t>
            </a:r>
            <a:endParaRPr lang="ko-KR" altLang="en-US" sz="1350"/>
          </a:p>
        </p:txBody>
      </p:sp>
      <p:sp>
        <p:nvSpPr>
          <p:cNvPr id="32" name="Rounded Rectangle 31"/>
          <p:cNvSpPr/>
          <p:nvPr/>
        </p:nvSpPr>
        <p:spPr>
          <a:xfrm>
            <a:off x="6464808" y="7315200"/>
            <a:ext cx="5349240" cy="1783080"/>
          </a:xfrm>
          <a:prstGeom prst="roundRect">
            <a:avLst>
              <a:gd name="adj" fmla="val 9230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7571232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에이전트 2개 (EXAONE 4.0 32B)</a:t>
            </a:r>
            <a:endParaRPr lang="ko-KR" altLang="en-US" sz="1600"/>
          </a:p>
        </p:txBody>
      </p:sp>
      <p:sp>
        <p:nvSpPr>
          <p:cNvPr id="34" name="TextBox 33"/>
          <p:cNvSpPr txBox="1"/>
          <p:nvPr/>
        </p:nvSpPr>
        <p:spPr>
          <a:xfrm>
            <a:off x="6784848" y="7987792"/>
            <a:ext cx="4709160" cy="927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상황판단: A1 질문 · A2 근거 인용 판단 · A3 충돌 검사 · A4 종합</a:t>
            </a:r>
            <a:endParaRPr lang="ko-KR" altLang="en-US" sz="1350"/>
          </a:p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어시스턴트: 질의응답 · 상황 정정 해석</a:t>
            </a:r>
            <a:endParaRPr lang="ko-KR" altLang="en-US" sz="1350"/>
          </a:p>
        </p:txBody>
      </p:sp>
      <p:sp>
        <p:nvSpPr>
          <p:cNvPr id="35" name="Rounded Rectangle 34"/>
          <p:cNvSpPr/>
          <p:nvPr/>
        </p:nvSpPr>
        <p:spPr>
          <a:xfrm>
            <a:off x="12106656" y="7315200"/>
            <a:ext cx="5349240" cy="1783080"/>
          </a:xfrm>
          <a:prstGeom prst="roundRect">
            <a:avLst>
              <a:gd name="adj" fmla="val 9230"/>
            </a:avLst>
          </a:prstGeom>
          <a:solidFill>
            <a:srgbClr val="F3F4F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26696" y="7571232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출력 제약</a:t>
            </a:r>
            <a:endParaRPr lang="ko-KR" altLang="en-US" sz="1600"/>
          </a:p>
        </p:txBody>
      </p:sp>
      <p:sp>
        <p:nvSpPr>
          <p:cNvPr id="37" name="TextBox 36"/>
          <p:cNvSpPr txBox="1"/>
          <p:nvPr/>
        </p:nvSpPr>
        <p:spPr>
          <a:xfrm>
            <a:off x="12426696" y="7987792"/>
            <a:ext cx="4709160" cy="927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판정 값 · 수치 재계산 금지, 청크 밖 내용 금지</a:t>
            </a:r>
            <a:endParaRPr lang="ko-KR" altLang="en-US" sz="1350"/>
          </a:p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없으면 「근거가 부족하여 표시하지 않았습니다」</a:t>
            </a:r>
            <a:endParaRPr lang="ko-KR" altLang="en-US" sz="1350"/>
          </a:p>
        </p:txBody>
      </p:sp>
    </p:spTree>
    <p:extLst>
      <p:ext uri="{BB962C8B-B14F-4D97-AF65-F5344CB8AC3E}">
        <p14:creationId xmlns:p14="http://schemas.microsoft.com/office/powerpoint/2010/main" val="3773482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8CFD1-22F0-003F-640E-F11E00259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7E703CC-73F2-6B27-E019-09F922D07E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4C89C45-08F7-5019-DEAA-141B929562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BC0608A-2B4A-8CBC-740B-8FEFF0854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227CD594-82CA-09C6-096F-F7655FADE97D}"/>
              </a:ext>
            </a:extLst>
          </p:cNvPr>
          <p:cNvSpPr txBox="1"/>
          <p:nvPr/>
        </p:nvSpPr>
        <p:spPr>
          <a:xfrm>
            <a:off x="825500" y="469900"/>
            <a:ext cx="8547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5.2.2 제안서 생성 절차와 출력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01389F-E2CA-D7B2-D6A9-3CD98FAF5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822960" y="1810512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버전 단위로 생성 — </a:t>
            </a:r>
            <a:r>
              <a:rPr lang="ko-KR" altLang="en-US" sz="26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v(화선 버전).(대응 생성 순번)</a:t>
            </a:r>
            <a:endParaRPr lang="ko-KR" altLang="en-US" sz="2600"/>
          </a:p>
        </p:txBody>
      </p:sp>
      <p:sp>
        <p:nvSpPr>
          <p:cNvPr id="29" name="Rounded Rectangle 28"/>
          <p:cNvSpPr/>
          <p:nvPr/>
        </p:nvSpPr>
        <p:spPr>
          <a:xfrm>
            <a:off x="822960" y="2743200"/>
            <a:ext cx="2103120" cy="1234440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화선 v1 보고</a:t>
            </a:r>
            <a:endParaRPr lang="ko-KR" altLang="en-US" sz="140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상황 보고자</a:t>
            </a:r>
            <a:endParaRPr lang="ko-KR" altLang="en-US" sz="1400"/>
          </a:p>
        </p:txBody>
      </p:sp>
      <p:sp>
        <p:nvSpPr>
          <p:cNvPr id="30" name="Right Arrow 29"/>
          <p:cNvSpPr/>
          <p:nvPr/>
        </p:nvSpPr>
        <p:spPr>
          <a:xfrm>
            <a:off x="2953512" y="3172968"/>
            <a:ext cx="256032" cy="365760"/>
          </a:xfrm>
          <a:prstGeom prst="rightArrow">
            <a:avLst/>
          </a:prstGeom>
          <a:solidFill>
            <a:srgbClr val="C9CD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36976" y="2743200"/>
            <a:ext cx="2103120" cy="1234440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 실행</a:t>
            </a:r>
            <a:endParaRPr lang="ko-KR" altLang="en-US" sz="140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  <a:endParaRPr lang="ko-KR" altLang="en-US" sz="1400"/>
          </a:p>
        </p:txBody>
      </p:sp>
      <p:sp>
        <p:nvSpPr>
          <p:cNvPr id="32" name="Right Arrow 31"/>
          <p:cNvSpPr/>
          <p:nvPr/>
        </p:nvSpPr>
        <p:spPr>
          <a:xfrm>
            <a:off x="5367528" y="3172968"/>
            <a:ext cx="256032" cy="365760"/>
          </a:xfrm>
          <a:prstGeom prst="rightArrow">
            <a:avLst/>
          </a:prstGeom>
          <a:solidFill>
            <a:srgbClr val="C9CD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50992" y="2743200"/>
            <a:ext cx="2103120" cy="1234440"/>
          </a:xfrm>
          <a:prstGeom prst="roundRect">
            <a:avLst>
              <a:gd name="adj" fmla="val 11111"/>
            </a:avLst>
          </a:prstGeom>
          <a:solidFill>
            <a:srgbClr val="FAA95A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제안서 v1.1</a:t>
            </a:r>
            <a:endParaRPr lang="ko-KR" altLang="en-US" sz="140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첫 제안</a:t>
            </a:r>
            <a:endParaRPr lang="ko-KR" altLang="en-US" sz="1400"/>
          </a:p>
        </p:txBody>
      </p:sp>
      <p:sp>
        <p:nvSpPr>
          <p:cNvPr id="34" name="Right Arrow 33"/>
          <p:cNvSpPr/>
          <p:nvPr/>
        </p:nvSpPr>
        <p:spPr>
          <a:xfrm>
            <a:off x="7781544" y="3172968"/>
            <a:ext cx="256032" cy="365760"/>
          </a:xfrm>
          <a:prstGeom prst="rightArrow">
            <a:avLst/>
          </a:prstGeom>
          <a:solidFill>
            <a:srgbClr val="C9CD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65008" y="2743200"/>
            <a:ext cx="2103120" cy="1234440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상황 정정 확인</a:t>
            </a:r>
            <a:endParaRPr lang="ko-KR" altLang="en-US" sz="140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예측 유지</a:t>
            </a:r>
            <a:endParaRPr lang="ko-KR" altLang="en-US" sz="1400"/>
          </a:p>
        </p:txBody>
      </p:sp>
      <p:sp>
        <p:nvSpPr>
          <p:cNvPr id="36" name="Right Arrow 35"/>
          <p:cNvSpPr/>
          <p:nvPr/>
        </p:nvSpPr>
        <p:spPr>
          <a:xfrm>
            <a:off x="10195560" y="3172968"/>
            <a:ext cx="256032" cy="365760"/>
          </a:xfrm>
          <a:prstGeom prst="rightArrow">
            <a:avLst/>
          </a:prstGeom>
          <a:solidFill>
            <a:srgbClr val="C9CD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479024" y="2743200"/>
            <a:ext cx="2103120" cy="1234440"/>
          </a:xfrm>
          <a:prstGeom prst="roundRect">
            <a:avLst>
              <a:gd name="adj" fmla="val 11111"/>
            </a:avLst>
          </a:prstGeom>
          <a:solidFill>
            <a:srgbClr val="FAA95A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제안서 v1.2</a:t>
            </a:r>
            <a:endParaRPr lang="ko-KR" altLang="en-US" sz="140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제안만 재생성</a:t>
            </a:r>
            <a:endParaRPr lang="ko-KR" altLang="en-US" sz="1400"/>
          </a:p>
        </p:txBody>
      </p:sp>
      <p:sp>
        <p:nvSpPr>
          <p:cNvPr id="38" name="Right Arrow 37"/>
          <p:cNvSpPr/>
          <p:nvPr/>
        </p:nvSpPr>
        <p:spPr>
          <a:xfrm>
            <a:off x="12609576" y="3172968"/>
            <a:ext cx="256032" cy="365760"/>
          </a:xfrm>
          <a:prstGeom prst="rightArrow">
            <a:avLst/>
          </a:prstGeom>
          <a:solidFill>
            <a:srgbClr val="C9CD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893040" y="2743200"/>
            <a:ext cx="2103120" cy="1234440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화선 v2 → 재예측</a:t>
            </a:r>
            <a:endParaRPr lang="ko-KR" altLang="en-US" sz="140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「재예측 필요」 표시</a:t>
            </a:r>
            <a:endParaRPr lang="ko-KR" altLang="en-US" sz="1400"/>
          </a:p>
        </p:txBody>
      </p:sp>
      <p:sp>
        <p:nvSpPr>
          <p:cNvPr id="40" name="Right Arrow 39"/>
          <p:cNvSpPr/>
          <p:nvPr/>
        </p:nvSpPr>
        <p:spPr>
          <a:xfrm>
            <a:off x="15023592" y="3172968"/>
            <a:ext cx="256032" cy="365760"/>
          </a:xfrm>
          <a:prstGeom prst="rightArrow">
            <a:avLst/>
          </a:prstGeom>
          <a:solidFill>
            <a:srgbClr val="C9CD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5307056" y="2743200"/>
            <a:ext cx="2103120" cy="1234440"/>
          </a:xfrm>
          <a:prstGeom prst="roundRect">
            <a:avLst>
              <a:gd name="adj" fmla="val 11111"/>
            </a:avLst>
          </a:prstGeom>
          <a:solidFill>
            <a:srgbClr val="FAA95A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제안서 v2.1</a:t>
            </a:r>
            <a:endParaRPr lang="ko-KR" altLang="en-US" sz="140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새 예측 기준</a:t>
            </a:r>
            <a:endParaRPr lang="ko-KR" altLang="en-US" sz="1400"/>
          </a:p>
        </p:txBody>
      </p:sp>
      <p:sp>
        <p:nvSpPr>
          <p:cNvPr id="42" name="TextBox 41"/>
          <p:cNvSpPr txBox="1"/>
          <p:nvPr/>
        </p:nvSpPr>
        <p:spPr>
          <a:xfrm>
            <a:off x="822960" y="4160520"/>
            <a:ext cx="166420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자동 갱신 없음 — 재예측은 통합지휘권자가 버튼을 누를 때만, 정정은 확인 카드에서 「확인」한 뒤에만 저장</a:t>
            </a:r>
            <a:endParaRPr lang="ko-KR" altLang="en-US" sz="1400"/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822960" y="4800600"/>
          <a:ext cx="16642080" cy="3950208"/>
        </p:xfrm>
        <a:graphic>
          <a:graphicData uri="http://schemas.openxmlformats.org/drawingml/2006/table">
            <a:tbl>
              <a:tblPr/>
              <a:tblGrid>
                <a:gridCol w="1828800"/>
                <a:gridCol w="10241280"/>
                <a:gridCol w="4572000"/>
              </a:tblGrid>
              <a:tr h="65836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  <a:endParaRPr lang="ko-KR" altLang="en-US" sz="14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  <a:endParaRPr lang="ko-KR" altLang="en-US" sz="14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 방식</a:t>
                      </a:r>
                      <a:endParaRPr lang="ko-KR" altLang="en-US" sz="14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머리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버전 · 생성 시각 · 계기 · 기준 화선, 공식/판정 단계(격상 검토), 위험구역 마을 수, 위험도, 변경 요약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규칙 판정 값 그대로 + A4 종합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진화 제안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S1~S7 중 발동 항목: 판정 결과 · 대상 · 실행 구분(즉시·대기·협의·요청) · 권한 · 제안 문장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규칙 판정 → A1 질문 → 근거 검색 → A2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대피 제안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E1~E7 중 발동 항목: 위험구역 마을, 대피 순서·시점, 대피소, 교통통제·재난문자·긴급구조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규칙 판정 → A1 질문 → 근거 검색 → A2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인용 번호별 문서명 · 쪽수 · 조항 · 요약(원문 문서 연결), 근거 없는 칸은 비표시 안내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검색 메타데이터 + SQLite 청크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이력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버전별 이력과 직전 버전 대비 변경(빠진 말 · 새로 생긴 말 강조), 이벤트 로그(근거 부족 포함)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버전 저장 · 비교, 이벤트 로그</a:t>
                      </a:r>
                      <a:endParaRPr lang="ko-KR" altLang="en-US" sz="13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572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D54E-45A2-CB03-3364-1A353CA39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2E5B597-8022-0FE6-A2EC-43E73BA93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747AEB9-19B2-EECA-AE58-69CCB24D7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1298245-6F86-E50F-7EE3-AF51D2EA73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0E7A4449-ED49-D82B-4B31-368F12BD3184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5.3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표출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4491EC-CF8B-5142-BC5B-1C5459767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822960" y="1810512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프로토타입으로 먼저 검증한 </a:t>
            </a:r>
            <a:r>
              <a:rPr lang="ko-KR" altLang="en-US" sz="26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지도 중심 한 화면</a:t>
            </a:r>
            <a:endParaRPr lang="ko-KR" altLang="en-US" sz="2600"/>
          </a:p>
        </p:txBody>
      </p:sp>
      <p:pic>
        <p:nvPicPr>
          <p:cNvPr id="29" name="Picture 28" descr="proto2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2697480"/>
            <a:ext cx="10607040" cy="596646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30" name="Oval 29"/>
          <p:cNvSpPr/>
          <p:nvPr/>
        </p:nvSpPr>
        <p:spPr>
          <a:xfrm>
            <a:off x="11750040" y="275234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31" name="TextBox 30"/>
          <p:cNvSpPr txBox="1"/>
          <p:nvPr/>
        </p:nvSpPr>
        <p:spPr>
          <a:xfrm>
            <a:off x="12188952" y="2734056"/>
            <a:ext cx="5276088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권한별 화면</a:t>
            </a:r>
            <a:endParaRPr lang="ko-KR" altLang="en-US" sz="1500"/>
          </a:p>
        </p:txBody>
      </p:sp>
      <p:sp>
        <p:nvSpPr>
          <p:cNvPr id="32" name="TextBox 31"/>
          <p:cNvSpPr txBox="1"/>
          <p:nvPr/>
        </p:nvSpPr>
        <p:spPr>
          <a:xfrm>
            <a:off x="12188952" y="3008757"/>
            <a:ext cx="5276088" cy="217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조작 · 열람 · 보고 · 관리 — 열람자는 상황도 · 발생 정보 · 위험도만</a:t>
            </a:r>
            <a:endParaRPr lang="ko-KR" altLang="en-US" sz="1300"/>
          </a:p>
        </p:txBody>
      </p:sp>
      <p:sp>
        <p:nvSpPr>
          <p:cNvPr id="33" name="Oval 32"/>
          <p:cNvSpPr/>
          <p:nvPr/>
        </p:nvSpPr>
        <p:spPr>
          <a:xfrm>
            <a:off x="11750040" y="3418713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34" name="TextBox 33"/>
          <p:cNvSpPr txBox="1"/>
          <p:nvPr/>
        </p:nvSpPr>
        <p:spPr>
          <a:xfrm>
            <a:off x="12188952" y="3400425"/>
            <a:ext cx="5276088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 상황도</a:t>
            </a:r>
            <a:endParaRPr lang="ko-KR" altLang="en-US" sz="1500"/>
          </a:p>
        </p:txBody>
      </p:sp>
      <p:sp>
        <p:nvSpPr>
          <p:cNvPr id="35" name="TextBox 34"/>
          <p:cNvSpPr txBox="1"/>
          <p:nvPr/>
        </p:nvSpPr>
        <p:spPr>
          <a:xfrm>
            <a:off x="12188952" y="3675126"/>
            <a:ext cx="5276088" cy="4358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실측 화선 · P1~P8 시간별 재생, P5 붉은 면 · P8 점선, 레이어 색 견본이 범례</a:t>
            </a:r>
            <a:endParaRPr lang="ko-KR" altLang="en-US" sz="1300"/>
          </a:p>
        </p:txBody>
      </p:sp>
      <p:sp>
        <p:nvSpPr>
          <p:cNvPr id="36" name="Oval 35"/>
          <p:cNvSpPr/>
          <p:nvPr/>
        </p:nvSpPr>
        <p:spPr>
          <a:xfrm>
            <a:off x="11750040" y="430301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37" name="TextBox 36"/>
          <p:cNvSpPr txBox="1"/>
          <p:nvPr/>
        </p:nvSpPr>
        <p:spPr>
          <a:xfrm>
            <a:off x="12188952" y="4284726"/>
            <a:ext cx="5276088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위험도 네모</a:t>
            </a:r>
            <a:endParaRPr lang="ko-KR" altLang="en-US" sz="1500"/>
          </a:p>
        </p:txBody>
      </p:sp>
      <p:sp>
        <p:nvSpPr>
          <p:cNvPr id="38" name="TextBox 37"/>
          <p:cNvSpPr txBox="1"/>
          <p:nvPr/>
        </p:nvSpPr>
        <p:spPr>
          <a:xfrm>
            <a:off x="12188952" y="4559427"/>
            <a:ext cx="5276088" cy="217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1.00~5.00 숫자와 구간 색, 누르면 4요인 · 23개 변수</a:t>
            </a:r>
            <a:endParaRPr lang="ko-KR" altLang="en-US" sz="1300"/>
          </a:p>
        </p:txBody>
      </p:sp>
      <p:sp>
        <p:nvSpPr>
          <p:cNvPr id="39" name="Oval 38"/>
          <p:cNvSpPr/>
          <p:nvPr/>
        </p:nvSpPr>
        <p:spPr>
          <a:xfrm>
            <a:off x="11750040" y="4969383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40" name="TextBox 39"/>
          <p:cNvSpPr txBox="1"/>
          <p:nvPr/>
        </p:nvSpPr>
        <p:spPr>
          <a:xfrm>
            <a:off x="12188952" y="4951095"/>
            <a:ext cx="5276088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대응제안 탭</a:t>
            </a:r>
            <a:endParaRPr lang="ko-KR" altLang="en-US" sz="1500"/>
          </a:p>
        </p:txBody>
      </p:sp>
      <p:sp>
        <p:nvSpPr>
          <p:cNvPr id="41" name="TextBox 40"/>
          <p:cNvSpPr txBox="1"/>
          <p:nvPr/>
        </p:nvSpPr>
        <p:spPr>
          <a:xfrm>
            <a:off x="12188952" y="5225796"/>
            <a:ext cx="5276088" cy="217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카드 펼침 → 판정 이유 · 대상 · 권한 · 근거, 지도에 대상 강조</a:t>
            </a:r>
            <a:endParaRPr lang="ko-KR" altLang="en-US" sz="1300"/>
          </a:p>
        </p:txBody>
      </p:sp>
      <p:sp>
        <p:nvSpPr>
          <p:cNvPr id="42" name="Oval 41"/>
          <p:cNvSpPr/>
          <p:nvPr/>
        </p:nvSpPr>
        <p:spPr>
          <a:xfrm>
            <a:off x="11750040" y="563575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43" name="TextBox 42"/>
          <p:cNvSpPr txBox="1"/>
          <p:nvPr/>
        </p:nvSpPr>
        <p:spPr>
          <a:xfrm>
            <a:off x="12188952" y="5617464"/>
            <a:ext cx="5276088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어시스턴트</a:t>
            </a:r>
            <a:endParaRPr lang="ko-KR" altLang="en-US" sz="1500"/>
          </a:p>
        </p:txBody>
      </p:sp>
      <p:sp>
        <p:nvSpPr>
          <p:cNvPr id="44" name="TextBox 43"/>
          <p:cNvSpPr txBox="1"/>
          <p:nvPr/>
        </p:nvSpPr>
        <p:spPr>
          <a:xfrm>
            <a:off x="12188952" y="5892165"/>
            <a:ext cx="5276088" cy="217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빠른 질문 · 「이 항목 질문」 · 상황 정정 → 새 버전</a:t>
            </a:r>
            <a:endParaRPr lang="ko-KR" altLang="en-US" sz="1300"/>
          </a:p>
        </p:txBody>
      </p:sp>
      <p:sp>
        <p:nvSpPr>
          <p:cNvPr id="45" name="Rounded Rectangle 44"/>
          <p:cNvSpPr/>
          <p:nvPr/>
        </p:nvSpPr>
        <p:spPr>
          <a:xfrm>
            <a:off x="11750040" y="8001000"/>
            <a:ext cx="5715000" cy="731520"/>
          </a:xfrm>
          <a:prstGeom prst="roundRect">
            <a:avLst>
              <a:gd name="adj" fmla="val 25000"/>
            </a:avLst>
          </a:prstGeom>
          <a:solidFill>
            <a:srgbClr val="FAA95A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UC 15개 모두 통과(10/13) · 결함 4 · 개선 7 반영</a:t>
            </a:r>
            <a:endParaRPr lang="ko-KR" altLang="en-US" sz="1450"/>
          </a:p>
        </p:txBody>
      </p:sp>
      <p:sp>
        <p:nvSpPr>
          <p:cNvPr id="46" name="TextBox 45"/>
          <p:cNvSpPr txBox="1"/>
          <p:nvPr/>
        </p:nvSpPr>
        <p:spPr>
          <a:xfrm>
            <a:off x="822960" y="8796528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150"/>
          </a:p>
        </p:txBody>
      </p:sp>
    </p:spTree>
    <p:extLst>
      <p:ext uri="{BB962C8B-B14F-4D97-AF65-F5344CB8AC3E}">
        <p14:creationId xmlns:p14="http://schemas.microsoft.com/office/powerpoint/2010/main" val="291232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AAB1-CB8F-18BE-1500-D299E489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0AB1D26-25EC-A2E0-F190-1E78E2E8CF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D443403-A46F-9EEB-A538-B5DDA89F5A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DC81C2A-6412-3A94-E846-F52EC8ADB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077C5619-8817-CF11-967D-FEBBBEA0BE21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4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평가 지표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ECABC7-2518-B95F-8EAE-67C5A8F42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822960" y="1810512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hold-out 사건으로 </a:t>
            </a:r>
            <a:r>
              <a:rPr lang="ko-KR" altLang="en-US" sz="26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확산 · 검색 · 생성</a:t>
            </a:r>
            <a:r>
              <a:rPr lang="ko-KR" alt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을 자동 평가</a:t>
            </a:r>
            <a:endParaRPr lang="ko-KR" altLang="en-US" sz="2600"/>
          </a:p>
        </p:txBody>
      </p:sp>
      <p:sp>
        <p:nvSpPr>
          <p:cNvPr id="29" name="TextBox 28"/>
          <p:cNvSpPr txBox="1"/>
          <p:nvPr/>
        </p:nvSpPr>
        <p:spPr>
          <a:xfrm>
            <a:off x="822960" y="269748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확산 예측 — 하한 = 국내 물리 모형 검증치</a:t>
            </a:r>
            <a:endParaRPr lang="ko-KR" altLang="en-US" sz="1700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822960" y="3154680"/>
          <a:ext cx="8229600" cy="3291840"/>
        </p:xfrm>
        <a:graphic>
          <a:graphicData uri="http://schemas.openxmlformats.org/drawingml/2006/table">
            <a:tbl>
              <a:tblPr/>
              <a:tblGrid>
                <a:gridCol w="2194560"/>
                <a:gridCol w="393192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지표</a:t>
                      </a:r>
                      <a:endParaRPr lang="ko-KR" altLang="en-US" sz="14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의미</a:t>
                      </a:r>
                      <a:endParaRPr lang="ko-KR" altLang="en-US" sz="14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하한</a:t>
                      </a:r>
                      <a:endParaRPr lang="ko-KR" altLang="en-US" sz="14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IoU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예측 영역 일치도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0.582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정밀도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예측 적중률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0.599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재현율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연소 영역 탐지율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0.956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F1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예측 종합 점수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0.699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F2 (핵심)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탐지 중심 종합 점수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0.805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1E6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822960" y="65379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국립산림과학원 설명서 p.45 표 11 — 국내 산불 35건 · 화선 335개, P8 예측 영역 vs AI Hub 실측 최종 소실 경계</a:t>
            </a:r>
            <a:endParaRPr lang="ko-KR" altLang="en-US" sz="1200"/>
          </a:p>
        </p:txBody>
      </p:sp>
      <p:sp>
        <p:nvSpPr>
          <p:cNvPr id="32" name="TextBox 31"/>
          <p:cNvSpPr txBox="1"/>
          <p:nvPr/>
        </p:nvSpPr>
        <p:spPr>
          <a:xfrm>
            <a:off x="9281160" y="2697480"/>
            <a:ext cx="81838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대응 제안 (RAGAS) — 하한 = 유사 연구 하위 25%</a:t>
            </a:r>
            <a:endParaRPr lang="ko-KR" altLang="en-US" sz="170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9281160" y="3154680"/>
          <a:ext cx="8183880" cy="2743200"/>
        </p:xfrm>
        <a:graphic>
          <a:graphicData uri="http://schemas.openxmlformats.org/drawingml/2006/table">
            <a:tbl>
              <a:tblPr/>
              <a:tblGrid>
                <a:gridCol w="3108960"/>
                <a:gridCol w="306324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지표</a:t>
                      </a:r>
                      <a:endParaRPr lang="ko-KR" altLang="en-US" sz="14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의미</a:t>
                      </a:r>
                      <a:endParaRPr lang="ko-KR" altLang="en-US" sz="14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하한</a:t>
                      </a:r>
                      <a:endParaRPr lang="ko-KR" altLang="en-US" sz="14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제안 근거 충실도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주장이 근거로 뒷받침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0.79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제안 질의 관련도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항목 질문에 맞는 답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0.82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순위 정밀도@K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쓸모 있는 근거가 상위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0.82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필요 근거 확보율@K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필요 근거를 K개 안에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≥ 0.80</a:t>
                      </a:r>
                      <a:endParaRPr lang="ko-KR" altLang="en-US" sz="14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9281160" y="5989320"/>
            <a:ext cx="81838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재난·공공 · 한국어 공공 문서 RAG 연구 12편, 중앙값은 목표 · K = 3·5·7·10 비교</a:t>
            </a:r>
            <a:endParaRPr lang="ko-KR" altLang="en-US" sz="1200"/>
          </a:p>
        </p:txBody>
      </p:sp>
      <p:sp>
        <p:nvSpPr>
          <p:cNvPr id="35" name="Rounded Rectangle 34"/>
          <p:cNvSpPr/>
          <p:nvPr/>
        </p:nvSpPr>
        <p:spPr>
          <a:xfrm>
            <a:off x="822960" y="7269480"/>
            <a:ext cx="5349240" cy="1188720"/>
          </a:xfrm>
          <a:prstGeom prst="roundRect">
            <a:avLst>
              <a:gd name="adj" fmla="val 11538"/>
            </a:avLst>
          </a:prstGeom>
          <a:solidFill>
            <a:srgbClr val="F3F4F7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Ablation</a:t>
            </a:r>
            <a:endParaRPr lang="ko-KR" altLang="en-US" sz="140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같은 질의 · 사건에서 RAG 유무 비교</a:t>
            </a:r>
            <a:endParaRPr lang="ko-KR" altLang="en-US" sz="1400"/>
          </a:p>
        </p:txBody>
      </p:sp>
      <p:sp>
        <p:nvSpPr>
          <p:cNvPr id="36" name="Rounded Rectangle 35"/>
          <p:cNvSpPr/>
          <p:nvPr/>
        </p:nvSpPr>
        <p:spPr>
          <a:xfrm>
            <a:off x="6464808" y="7269480"/>
            <a:ext cx="5349240" cy="1188720"/>
          </a:xfrm>
          <a:prstGeom prst="roundRect">
            <a:avLst>
              <a:gd name="adj" fmla="val 11538"/>
            </a:avLst>
          </a:prstGeom>
          <a:solidFill>
            <a:srgbClr val="F3F4F7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로컬 채점</a:t>
            </a:r>
            <a:endParaRPr lang="ko-KR" altLang="en-US" sz="140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EXAONE 4.0 32B(LLM-as-a-Judge) · 사람은 정답 답변만 작성</a:t>
            </a:r>
            <a:endParaRPr lang="ko-KR" altLang="en-US" sz="1400"/>
          </a:p>
        </p:txBody>
      </p:sp>
      <p:sp>
        <p:nvSpPr>
          <p:cNvPr id="37" name="Rounded Rectangle 36"/>
          <p:cNvSpPr/>
          <p:nvPr/>
        </p:nvSpPr>
        <p:spPr>
          <a:xfrm>
            <a:off x="12106656" y="7269480"/>
            <a:ext cx="5349240" cy="1188720"/>
          </a:xfrm>
          <a:prstGeom prst="roundRect">
            <a:avLst>
              <a:gd name="adj" fmla="val 11538"/>
            </a:avLst>
          </a:prstGeom>
          <a:solidFill>
            <a:srgbClr val="F3F4F7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데이터 분리</a:t>
            </a:r>
            <a:endParaRPr lang="ko-KR" altLang="en-US" sz="1400"/>
          </a:p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hold-out 사건 · 제안 개발용/시험용 시나리오</a:t>
            </a:r>
            <a:endParaRPr lang="ko-KR" altLang="en-US" sz="1400"/>
          </a:p>
        </p:txBody>
      </p:sp>
      <p:sp>
        <p:nvSpPr>
          <p:cNvPr id="38" name="TextBox 37"/>
          <p:cNvSpPr txBox="1"/>
          <p:nvPr/>
        </p:nvSpPr>
        <p:spPr>
          <a:xfrm>
            <a:off x="822960" y="864108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자동 지표는 대리 지표 — 현장 유효성 입증과 구분합니다. 채점 실패율 · 95% 신뢰구간을 함께 보고합니다.</a:t>
            </a:r>
            <a:endParaRPr lang="ko-KR" altLang="en-US" sz="1250"/>
          </a:p>
        </p:txBody>
      </p:sp>
    </p:spTree>
    <p:extLst>
      <p:ext uri="{BB962C8B-B14F-4D97-AF65-F5344CB8AC3E}">
        <p14:creationId xmlns:p14="http://schemas.microsoft.com/office/powerpoint/2010/main" val="27891895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6A554-AB95-4D6C-9B8B-8C4E30FC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D057AB8-2ED8-DAA2-4DB9-F05499B3A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8D6AA64-170B-7C75-FE6F-10E57E6A56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EEEB78B-B5FF-C833-C7F3-2F7DCC76E1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DCB94E50-9E3B-5DEA-17B4-E1846166BB3C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5.5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개발 환경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7F5A6F-0435-A6E7-582C-288FC964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A42E571A-05B9-0699-9E06-A928E2A1E76C}"/>
              </a:ext>
            </a:extLst>
          </p:cNvPr>
          <p:cNvSpPr txBox="1"/>
          <p:nvPr/>
        </p:nvSpPr>
        <p:spPr>
          <a:xfrm>
            <a:off x="5911850" y="1800579"/>
            <a:ext cx="7232650" cy="8476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2599" spc="-1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GPU </a:t>
            </a:r>
            <a:r>
              <a:rPr lang="ko-KR" altLang="en-US" sz="2599" spc="-1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연산과 서비스 배포를 분리한 자체 운영 구조</a:t>
            </a:r>
            <a:endParaRPr lang="ko-KR" altLang="en-US" sz="2599" spc="-100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62A11031-2F04-3F69-CECA-0345899FEDCF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110" y="2883321"/>
            <a:ext cx="5200650" cy="35420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926766-2AB8-1EDA-12B0-9E905D9E9B5C}"/>
              </a:ext>
            </a:extLst>
          </p:cNvPr>
          <p:cNvSpPr txBox="1"/>
          <p:nvPr/>
        </p:nvSpPr>
        <p:spPr>
          <a:xfrm>
            <a:off x="1767673" y="5180764"/>
            <a:ext cx="3315519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 · EXAONE 32B 4bit · KURE-v1 · </a:t>
            </a: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PostGIS</a:t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12" name="Picture 15">
            <a:extLst>
              <a:ext uri="{FF2B5EF4-FFF2-40B4-BE49-F238E27FC236}">
                <a16:creationId xmlns:a16="http://schemas.microsoft.com/office/drawing/2014/main" id="{20445EC2-D6B1-630C-F49E-753ACFBB4C6C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5230" y="2857500"/>
            <a:ext cx="5200650" cy="3542043"/>
          </a:xfrm>
          <a:prstGeom prst="rect">
            <a:avLst/>
          </a:prstGeom>
        </p:spPr>
      </p:pic>
      <p:pic>
        <p:nvPicPr>
          <p:cNvPr id="23" name="Picture 15">
            <a:extLst>
              <a:ext uri="{FF2B5EF4-FFF2-40B4-BE49-F238E27FC236}">
                <a16:creationId xmlns:a16="http://schemas.microsoft.com/office/drawing/2014/main" id="{546E361D-86F3-B306-B144-44FD2295219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25350" y="2857500"/>
            <a:ext cx="5200650" cy="3542043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782ABF6-90F9-453E-B8C7-8602D5C6D76C}"/>
              </a:ext>
            </a:extLst>
          </p:cNvPr>
          <p:cNvSpPr/>
          <p:nvPr/>
        </p:nvSpPr>
        <p:spPr>
          <a:xfrm>
            <a:off x="825110" y="6772321"/>
            <a:ext cx="16700890" cy="2178670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73D8A6-EF49-AFA2-F6AE-11942842D058}"/>
              </a:ext>
            </a:extLst>
          </p:cNvPr>
          <p:cNvSpPr txBox="1"/>
          <p:nvPr/>
        </p:nvSpPr>
        <p:spPr>
          <a:xfrm>
            <a:off x="990600" y="6907256"/>
            <a:ext cx="2169705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TECH STACK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D650C1-5BB7-A950-AF77-55CE029EF70E}"/>
              </a:ext>
            </a:extLst>
          </p:cNvPr>
          <p:cNvSpPr txBox="1"/>
          <p:nvPr/>
        </p:nvSpPr>
        <p:spPr>
          <a:xfrm>
            <a:off x="7409127" y="5190524"/>
            <a:ext cx="371367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대시보드 배포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API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게이트웨이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FastAPI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프록시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AC864F-7A90-F486-8C84-44D5EF8C5BCD}"/>
              </a:ext>
            </a:extLst>
          </p:cNvPr>
          <p:cNvSpPr txBox="1"/>
          <p:nvPr/>
        </p:nvSpPr>
        <p:spPr>
          <a:xfrm>
            <a:off x="13542646" y="5190523"/>
            <a:ext cx="276605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프론트엔드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백엔드 개발 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원격 서버 작업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B12C97-B7A5-ECC0-E378-39AC2EC79F38}"/>
              </a:ext>
            </a:extLst>
          </p:cNvPr>
          <p:cNvSpPr txBox="1"/>
          <p:nvPr/>
        </p:nvSpPr>
        <p:spPr>
          <a:xfrm>
            <a:off x="2008802" y="4119679"/>
            <a:ext cx="283325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RTX </a:t>
            </a:r>
            <a:r>
              <a:rPr lang="en-US" altLang="ko-KR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A6000 48GB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4587A6-909E-AC9A-AF95-D640EEB18A92}"/>
              </a:ext>
            </a:extLst>
          </p:cNvPr>
          <p:cNvSpPr txBox="1"/>
          <p:nvPr/>
        </p:nvSpPr>
        <p:spPr>
          <a:xfrm>
            <a:off x="7877502" y="4090808"/>
            <a:ext cx="276605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AWS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0ABFB8-4639-E0C9-8293-1AA1EB22B11A}"/>
              </a:ext>
            </a:extLst>
          </p:cNvPr>
          <p:cNvSpPr txBox="1"/>
          <p:nvPr/>
        </p:nvSpPr>
        <p:spPr>
          <a:xfrm>
            <a:off x="13924779" y="4093965"/>
            <a:ext cx="2001784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Linux · SSH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CB68E66-E8A8-A04E-0647-02E2516F2AE9}"/>
              </a:ext>
            </a:extLst>
          </p:cNvPr>
          <p:cNvGrpSpPr/>
          <p:nvPr/>
        </p:nvGrpSpPr>
        <p:grpSpPr>
          <a:xfrm>
            <a:off x="13924780" y="3146074"/>
            <a:ext cx="2001785" cy="747849"/>
            <a:chOff x="13944600" y="3204344"/>
            <a:chExt cx="2001785" cy="747849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370B0DC0-B270-DF0B-A5D8-90FAFA5FB3F8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TextBox 21">
              <a:extLst>
                <a:ext uri="{FF2B5EF4-FFF2-40B4-BE49-F238E27FC236}">
                  <a16:creationId xmlns:a16="http://schemas.microsoft.com/office/drawing/2014/main" id="{F8420AAB-AF73-D863-3B29-BDDB08F85B2B}"/>
                </a:ext>
              </a:extLst>
            </p:cNvPr>
            <p:cNvSpPr txBox="1"/>
            <p:nvPr/>
          </p:nvSpPr>
          <p:spPr>
            <a:xfrm>
              <a:off x="14137505" y="330972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개발 </a:t>
              </a:r>
              <a:r>
                <a:rPr lang="en-US" altLang="ko-KR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PC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58BE6628-08A3-0752-F9BA-3A236EFF6B18}"/>
              </a:ext>
            </a:extLst>
          </p:cNvPr>
          <p:cNvGrpSpPr/>
          <p:nvPr/>
        </p:nvGrpSpPr>
        <p:grpSpPr>
          <a:xfrm>
            <a:off x="8264339" y="3153014"/>
            <a:ext cx="2001785" cy="747849"/>
            <a:chOff x="13944600" y="3204344"/>
            <a:chExt cx="2001785" cy="747849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30B9DC6-703E-1395-502A-ABA5FF8B3F2C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TextBox 21">
              <a:extLst>
                <a:ext uri="{FF2B5EF4-FFF2-40B4-BE49-F238E27FC236}">
                  <a16:creationId xmlns:a16="http://schemas.microsoft.com/office/drawing/2014/main" id="{DB09FDD9-3300-0320-1616-A44787C63460}"/>
                </a:ext>
              </a:extLst>
            </p:cNvPr>
            <p:cNvSpPr txBox="1"/>
            <p:nvPr/>
          </p:nvSpPr>
          <p:spPr>
            <a:xfrm>
              <a:off x="14036348" y="3309728"/>
              <a:ext cx="1808880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서비스 서버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9B8C3B47-26E1-BCDA-0DB8-4FBB3F528188}"/>
              </a:ext>
            </a:extLst>
          </p:cNvPr>
          <p:cNvGrpSpPr/>
          <p:nvPr/>
        </p:nvGrpSpPr>
        <p:grpSpPr>
          <a:xfrm>
            <a:off x="2424542" y="3145320"/>
            <a:ext cx="2001785" cy="747849"/>
            <a:chOff x="13944600" y="3204344"/>
            <a:chExt cx="2001785" cy="747849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076AF96-C097-63DB-6B9D-8AC092CCA151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5" name="TextBox 21">
              <a:extLst>
                <a:ext uri="{FF2B5EF4-FFF2-40B4-BE49-F238E27FC236}">
                  <a16:creationId xmlns:a16="http://schemas.microsoft.com/office/drawing/2014/main" id="{AB9BF09A-CF84-AF4D-DA05-C7A2B375C864}"/>
                </a:ext>
              </a:extLst>
            </p:cNvPr>
            <p:cNvSpPr txBox="1"/>
            <p:nvPr/>
          </p:nvSpPr>
          <p:spPr>
            <a:xfrm>
              <a:off x="14137505" y="330972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altLang="ko-KR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GPU </a:t>
              </a:r>
              <a:r>
                <a:rPr lang="ko-KR" altLang="en-US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서버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321D0FC-F464-11AF-BD8E-664AC6212DA9}"/>
              </a:ext>
            </a:extLst>
          </p:cNvPr>
          <p:cNvSpPr txBox="1"/>
          <p:nvPr/>
        </p:nvSpPr>
        <p:spPr>
          <a:xfrm>
            <a:off x="3836770" y="6896100"/>
            <a:ext cx="7933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예측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C789D5-A51E-B5FE-432A-D49AEF493316}"/>
              </a:ext>
            </a:extLst>
          </p:cNvPr>
          <p:cNvSpPr txBox="1"/>
          <p:nvPr/>
        </p:nvSpPr>
        <p:spPr>
          <a:xfrm>
            <a:off x="3836770" y="7353300"/>
            <a:ext cx="7933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공간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48D590-AFBB-B49D-9BD8-C9D44AAF9753}"/>
              </a:ext>
            </a:extLst>
          </p:cNvPr>
          <p:cNvSpPr txBox="1"/>
          <p:nvPr/>
        </p:nvSpPr>
        <p:spPr>
          <a:xfrm>
            <a:off x="3886200" y="7810500"/>
            <a:ext cx="60039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b="1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AI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39BB3A-D6F7-BE8B-232C-094FE65C3AEF}"/>
              </a:ext>
            </a:extLst>
          </p:cNvPr>
          <p:cNvSpPr txBox="1"/>
          <p:nvPr/>
        </p:nvSpPr>
        <p:spPr>
          <a:xfrm>
            <a:off x="3836770" y="8343900"/>
            <a:ext cx="109597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서비스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C12A0C-2C69-0AF0-E8BD-D90AAC0682CA}"/>
              </a:ext>
            </a:extLst>
          </p:cNvPr>
          <p:cNvSpPr txBox="1"/>
          <p:nvPr/>
        </p:nvSpPr>
        <p:spPr>
          <a:xfrm>
            <a:off x="5083192" y="6901101"/>
            <a:ext cx="5465524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 1.1 · Docker · Rothermel · Anderson</a:t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28A505-1913-B58F-92EB-506BC5F54718}"/>
              </a:ext>
            </a:extLst>
          </p:cNvPr>
          <p:cNvSpPr txBox="1"/>
          <p:nvPr/>
        </p:nvSpPr>
        <p:spPr>
          <a:xfrm>
            <a:off x="5083192" y="7350781"/>
            <a:ext cx="5813408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PostGIS · GDAL · rasterio · GeoPandas · Shapely</a:t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70E110-4076-D540-606A-63A6091974FC}"/>
              </a:ext>
            </a:extLst>
          </p:cNvPr>
          <p:cNvSpPr txBox="1"/>
          <p:nvPr/>
        </p:nvSpPr>
        <p:spPr>
          <a:xfrm>
            <a:off x="5071772" y="7830354"/>
            <a:ext cx="5813408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KURE-v1 · FAISS · EXAONE 4.0 32B · vLLM</a:t>
            </a: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EEAFA1-9420-3327-0C3B-9D67B4457267}"/>
              </a:ext>
            </a:extLst>
          </p:cNvPr>
          <p:cNvSpPr txBox="1"/>
          <p:nvPr/>
        </p:nvSpPr>
        <p:spPr>
          <a:xfrm>
            <a:off x="5071771" y="8353903"/>
            <a:ext cx="605102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Python · FastAPI · React · MapLibre GL · GeoJSON</a:t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</p:spTree>
    <p:extLst>
      <p:ext uri="{BB962C8B-B14F-4D97-AF65-F5344CB8AC3E}">
        <p14:creationId xmlns:p14="http://schemas.microsoft.com/office/powerpoint/2010/main" val="990104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10824-2C74-8416-437A-848B58ED9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116EA932-2006-2122-D058-392612A1BB78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3D0D09B-E668-0D7D-6A31-C08FD156CD59}"/>
              </a:ext>
            </a:extLst>
          </p:cNvPr>
          <p:cNvSpPr txBox="1"/>
          <p:nvPr/>
        </p:nvSpPr>
        <p:spPr>
          <a:xfrm>
            <a:off x="6819900" y="4699000"/>
            <a:ext cx="46482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6.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개발 추진 계획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067F4-622F-3B19-5938-DA6CAE33E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41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AA05A-07EE-8D60-0734-50AF95BC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18">
            <a:extLst>
              <a:ext uri="{FF2B5EF4-FFF2-40B4-BE49-F238E27FC236}">
                <a16:creationId xmlns:a16="http://schemas.microsoft.com/office/drawing/2014/main" id="{11A0ECDC-A355-A7F4-033E-7F82BC07ED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4392" y="3968539"/>
            <a:ext cx="3962400" cy="2964078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4264460-4822-2460-BA89-0CB0C6814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40A025F-FC71-1523-9799-91540917E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FD9AC1A-24CE-939C-EC4A-1F6650683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94E98307-B864-6393-3781-07C1F1AA59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00" y="3963983"/>
            <a:ext cx="3962400" cy="2964078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FFC6ADBB-038B-131B-A71A-D4A36EB8D747}"/>
              </a:ext>
            </a:extLst>
          </p:cNvPr>
          <p:cNvSpPr txBox="1"/>
          <p:nvPr/>
        </p:nvSpPr>
        <p:spPr>
          <a:xfrm>
            <a:off x="715749" y="5158655"/>
            <a:ext cx="36485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ko-KR" altLang="en-US" sz="2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팀장 </a:t>
            </a:r>
            <a:r>
              <a:rPr lang="en-US" altLang="ko-KR" sz="2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&amp; </a:t>
            </a:r>
            <a:r>
              <a:rPr lang="en-US" altLang="ko-KR" sz="24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Backend Engineer</a:t>
            </a:r>
            <a:endParaRPr lang="en-US" sz="24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5226604-5076-3966-F02A-778ED8450522}"/>
              </a:ext>
            </a:extLst>
          </p:cNvPr>
          <p:cNvSpPr txBox="1"/>
          <p:nvPr/>
        </p:nvSpPr>
        <p:spPr>
          <a:xfrm>
            <a:off x="1835802" y="4400874"/>
            <a:ext cx="1408395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399" b="0" i="0" u="none" strike="noStrike" spc="-100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황승준</a:t>
            </a:r>
            <a:endParaRPr lang="en-US" sz="3399" b="0" i="0" u="none" strike="noStrike" spc="-100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623B46D0-72A1-534F-5481-BCA5A26FC445}"/>
              </a:ext>
            </a:extLst>
          </p:cNvPr>
          <p:cNvSpPr txBox="1"/>
          <p:nvPr/>
        </p:nvSpPr>
        <p:spPr>
          <a:xfrm>
            <a:off x="825500" y="469900"/>
            <a:ext cx="133477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6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.1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팀 구성 및 역할 분담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pic>
        <p:nvPicPr>
          <p:cNvPr id="42" name="Picture 18">
            <a:extLst>
              <a:ext uri="{FF2B5EF4-FFF2-40B4-BE49-F238E27FC236}">
                <a16:creationId xmlns:a16="http://schemas.microsoft.com/office/drawing/2014/main" id="{FD7D5134-4CFB-37E6-404D-AF8A42306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2600" y="3963983"/>
            <a:ext cx="3962400" cy="2964078"/>
          </a:xfrm>
          <a:prstGeom prst="rect">
            <a:avLst/>
          </a:prstGeom>
        </p:spPr>
      </p:pic>
      <p:pic>
        <p:nvPicPr>
          <p:cNvPr id="44" name="Picture 18">
            <a:extLst>
              <a:ext uri="{FF2B5EF4-FFF2-40B4-BE49-F238E27FC236}">
                <a16:creationId xmlns:a16="http://schemas.microsoft.com/office/drawing/2014/main" id="{CBBFF91A-FB6E-2110-4693-F2875E461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66800" y="3963983"/>
            <a:ext cx="3962400" cy="296407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D419019-1C5B-CC41-B9B0-AC8FF68C450C}"/>
              </a:ext>
            </a:extLst>
          </p:cNvPr>
          <p:cNvSpPr txBox="1"/>
          <p:nvPr/>
        </p:nvSpPr>
        <p:spPr>
          <a:xfrm>
            <a:off x="1309176" y="6004236"/>
            <a:ext cx="24006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US" altLang="ko-KR" sz="1500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PostGIS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·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 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API · </a:t>
            </a:r>
            <a:r>
              <a:rPr lang="en-US" altLang="ko-KR" sz="1500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FastAPI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  <a:p>
            <a:pPr lvl="0">
              <a:lnSpc>
                <a:spcPct val="100000"/>
              </a:lnSpc>
            </a:pP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규칙 판정·이벤트 로그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규칙</a:t>
            </a:r>
          </a:p>
        </p:txBody>
      </p:sp>
      <p:sp>
        <p:nvSpPr>
          <p:cNvPr id="76" name="TextBox 26">
            <a:extLst>
              <a:ext uri="{FF2B5EF4-FFF2-40B4-BE49-F238E27FC236}">
                <a16:creationId xmlns:a16="http://schemas.microsoft.com/office/drawing/2014/main" id="{DB79D889-2A85-D51D-7E67-504AECFEA549}"/>
              </a:ext>
            </a:extLst>
          </p:cNvPr>
          <p:cNvSpPr txBox="1"/>
          <p:nvPr/>
        </p:nvSpPr>
        <p:spPr>
          <a:xfrm>
            <a:off x="5988950" y="5167317"/>
            <a:ext cx="1887368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4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AI</a:t>
            </a:r>
            <a:r>
              <a:rPr lang="ko-KR" altLang="en-US" sz="24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 </a:t>
            </a:r>
            <a:r>
              <a:rPr lang="en-US" altLang="ko-KR" sz="24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Architect</a:t>
            </a:r>
            <a:endParaRPr lang="en-US" sz="24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78" name="TextBox 27">
            <a:extLst>
              <a:ext uri="{FF2B5EF4-FFF2-40B4-BE49-F238E27FC236}">
                <a16:creationId xmlns:a16="http://schemas.microsoft.com/office/drawing/2014/main" id="{62CBA780-D4BF-CC90-FA17-B90547AE3C8F}"/>
              </a:ext>
            </a:extLst>
          </p:cNvPr>
          <p:cNvSpPr txBox="1"/>
          <p:nvPr/>
        </p:nvSpPr>
        <p:spPr>
          <a:xfrm>
            <a:off x="6231394" y="4405430"/>
            <a:ext cx="1408395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399" spc="-100" dirty="0" err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김지오</a:t>
            </a:r>
            <a:endParaRPr lang="en-US" sz="3399" b="0" i="0" u="none" strike="noStrike" spc="-100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4EF245B-658C-91C4-967C-871757917CB2}"/>
              </a:ext>
            </a:extLst>
          </p:cNvPr>
          <p:cNvSpPr txBox="1"/>
          <p:nvPr/>
        </p:nvSpPr>
        <p:spPr>
          <a:xfrm>
            <a:off x="5042976" y="6004236"/>
            <a:ext cx="37722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US" altLang="ko-KR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KURE-v1+FAISS · EXAONE/vLLM</a:t>
            </a:r>
          </a:p>
          <a:p>
            <a:pPr lvl="0" algn="ctr">
              <a:lnSpc>
                <a:spcPct val="100000"/>
              </a:lnSpc>
            </a:pPr>
            <a:r>
              <a:rPr lang="ko-KR" altLang="en-US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에이전트 프롬프트 · RAGAS 평가</a:t>
            </a:r>
            <a:r>
              <a:rPr lang="en-US" altLang="ko-KR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endParaRPr lang="ko-KR" altLang="en-US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4" name="TextBox 26">
            <a:extLst>
              <a:ext uri="{FF2B5EF4-FFF2-40B4-BE49-F238E27FC236}">
                <a16:creationId xmlns:a16="http://schemas.microsoft.com/office/drawing/2014/main" id="{0F3ECDCF-C8EB-54AA-103C-E0BBD5DBD03E}"/>
              </a:ext>
            </a:extLst>
          </p:cNvPr>
          <p:cNvSpPr txBox="1"/>
          <p:nvPr/>
        </p:nvSpPr>
        <p:spPr>
          <a:xfrm>
            <a:off x="9371210" y="5158655"/>
            <a:ext cx="39624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altLang="ko-KR" sz="19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Backend</a:t>
            </a:r>
            <a:r>
              <a:rPr lang="ko-KR" altLang="en-US" sz="19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en-US" altLang="ko-KR" sz="19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&amp; Simulation Engineer</a:t>
            </a:r>
            <a:endParaRPr lang="en-US" sz="19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6" name="TextBox 27">
            <a:extLst>
              <a:ext uri="{FF2B5EF4-FFF2-40B4-BE49-F238E27FC236}">
                <a16:creationId xmlns:a16="http://schemas.microsoft.com/office/drawing/2014/main" id="{AEB5F3CA-CD13-130F-F2CD-612173E516C1}"/>
              </a:ext>
            </a:extLst>
          </p:cNvPr>
          <p:cNvSpPr txBox="1"/>
          <p:nvPr/>
        </p:nvSpPr>
        <p:spPr>
          <a:xfrm>
            <a:off x="10649602" y="4405430"/>
            <a:ext cx="1408395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399" spc="-100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홍준서</a:t>
            </a:r>
            <a:endParaRPr lang="en-US" sz="3399" b="0" i="0" u="none" strike="noStrike" spc="-100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4A8620E-59E1-4816-E737-FAE17F5E02AD}"/>
              </a:ext>
            </a:extLst>
          </p:cNvPr>
          <p:cNvSpPr txBox="1"/>
          <p:nvPr/>
        </p:nvSpPr>
        <p:spPr>
          <a:xfrm>
            <a:off x="9461184" y="6004236"/>
            <a:ext cx="38724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US" altLang="ko-KR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30m </a:t>
            </a:r>
            <a:r>
              <a:rPr lang="ko-KR" altLang="en-US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격자 </a:t>
            </a:r>
            <a:r>
              <a:rPr lang="en-US" altLang="ko-KR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Anderson-13</a:t>
            </a:r>
          </a:p>
          <a:p>
            <a:pPr lvl="0" algn="ctr">
              <a:lnSpc>
                <a:spcPct val="100000"/>
              </a:lnSpc>
            </a:pPr>
            <a:r>
              <a:rPr lang="en-US" altLang="ko-KR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 · IoU </a:t>
            </a:r>
            <a:r>
              <a:rPr lang="ko-KR" altLang="en-US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베이지안 보정</a:t>
            </a:r>
            <a:endParaRPr lang="ko-KR" altLang="en-US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12" name="TextBox 26">
            <a:extLst>
              <a:ext uri="{FF2B5EF4-FFF2-40B4-BE49-F238E27FC236}">
                <a16:creationId xmlns:a16="http://schemas.microsoft.com/office/drawing/2014/main" id="{7DC43DB3-2CCE-282C-630B-45F99187B764}"/>
              </a:ext>
            </a:extLst>
          </p:cNvPr>
          <p:cNvSpPr txBox="1"/>
          <p:nvPr/>
        </p:nvSpPr>
        <p:spPr>
          <a:xfrm>
            <a:off x="14294570" y="5159662"/>
            <a:ext cx="2970819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Frontend Developer</a:t>
            </a:r>
            <a:endParaRPr lang="en-US" sz="24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14" name="TextBox 27">
            <a:extLst>
              <a:ext uri="{FF2B5EF4-FFF2-40B4-BE49-F238E27FC236}">
                <a16:creationId xmlns:a16="http://schemas.microsoft.com/office/drawing/2014/main" id="{AE727F82-8F1F-A793-12EC-0E35E01926E5}"/>
              </a:ext>
            </a:extLst>
          </p:cNvPr>
          <p:cNvSpPr txBox="1"/>
          <p:nvPr/>
        </p:nvSpPr>
        <p:spPr>
          <a:xfrm>
            <a:off x="15042758" y="4405430"/>
            <a:ext cx="1408395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399" b="0" i="0" u="none" strike="noStrike" spc="-100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임성민</a:t>
            </a:r>
            <a:endParaRPr lang="en-US" sz="3399" b="0" i="0" u="none" strike="noStrike" spc="-100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6D42585-59ED-F384-42A4-B9D35A1ACA09}"/>
              </a:ext>
            </a:extLst>
          </p:cNvPr>
          <p:cNvSpPr txBox="1"/>
          <p:nvPr/>
        </p:nvSpPr>
        <p:spPr>
          <a:xfrm>
            <a:off x="13798779" y="6004236"/>
            <a:ext cx="3962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React · </a:t>
            </a:r>
            <a:r>
              <a:rPr lang="en-US" altLang="ko-KR" sz="1500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MapLibre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GL</a:t>
            </a:r>
          </a:p>
          <a:p>
            <a:pPr lvl="0" algn="ctr">
              <a:lnSpc>
                <a:spcPct val="100000"/>
              </a:lnSpc>
            </a:pP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상황도 · 대응 제안 · AI 화면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8D196D-1770-9EBF-FE18-8F1E6D0D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87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DDF7-E2E6-8448-6EB4-0F8BF6CC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BC13C5-81A0-578C-DEB9-9D9E7C0EB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B277BE12-853C-DA4D-C5CF-EB5688CB673A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6.2 개발 일정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496E1E-A839-6AAA-E8BF-72E00D94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950" name="표 949">
            <a:extLst>
              <a:ext uri="{FF2B5EF4-FFF2-40B4-BE49-F238E27FC236}">
                <a16:creationId xmlns:a16="http://schemas.microsoft.com/office/drawing/2014/main" id="{1A117E05-4164-5A7E-69A8-C6E558CCB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745308"/>
              </p:ext>
            </p:extLst>
          </p:nvPr>
        </p:nvGraphicFramePr>
        <p:xfrm>
          <a:off x="746764" y="2331720"/>
          <a:ext cx="16632936" cy="6931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67490904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59985966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31406709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23003207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1967667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8801215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11885936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21439748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73767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09710594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0259591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7864045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55355857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4048487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48058841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23890791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1789345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개발 내용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13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14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15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16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담당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4972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B5601C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애자일 스프린트 (1주, 주간 개발 보고서 = 리뷰)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발표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SP1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SP2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SP3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SP4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SP5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준비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602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대회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보완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0B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최종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0B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62619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1. 과제계획서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79563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2. 수정 과제계획서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1608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3. 요구사항분석서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27845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B5601C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수정 요구사항분석서 작성(교수 피드백 반영, 10/8)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5775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5. 상세설계서·설계사양서·프로토타입 계획서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9303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6. 테스트 사양서 작성 및 1차 프로토타입 구현·발표(10/16)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8742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B5601C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7. 수정 프로토타입 작성·제출(10/22)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24769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8. 공간 격자 구축(DEM·임상도 → Anderson-13 연료, 30 m)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홍준서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68176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9. PostGIS 스키마·기상청 API 어댑터·기상 캐시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5796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10. 근거 코퍼스 구축(조항 단위 청킹·메타데이터 태깅)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8211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11. ELMFIRE 실행 환경(Docker) 구축 및 시범 실행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홍준서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91447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12. 위험도 계산(P5 기준 23개 변수 가중평균·인구 겹침)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황승준·김지오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9242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13. 근거 색인·검색(KURE-v1 + FAISS, 단계·항목 필터)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67832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14. EXAONE 4.0 32B vLLM 서빙·프롬프트·인용 형식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53497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15. 규칙 엔진 판정(대응단계·위험구역 등 경계값이 있는 값)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32292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16. FastAPI 서버·상황 구성·응답 조립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6315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17. 웹 대시보드(React·MapLibre GL, 상황도·위험도·제안·AI)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임성민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59818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18. 확산 파라미터 보정(fuel_models.csv, IoU 베이지안 최적화)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홍준서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6248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19. 모듈 1차 통합 및 통합 프로토타입 시연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8069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20. 대응 제안 생성 파이프라인 완성(항목별 질문·근거 인용·종합)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황승준·김지오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523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21. 평가 파이프라인(확산 5종·대응 제안 4종) 및 hold-out 검증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31036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22. RAG 유무 Ablation 실험 및 최종 통합 — 개발 완료(11/20)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85357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23. 창의설계 경진대회 준비(발표 자료·시연)·참가(12/4)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4902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24. 문제점 보완·SW 프로그램 등록 및 최종보고서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83982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25. 주간 보고서 </a:t>
                      </a:r>
                      <a:r>
                        <a:rPr lang="ko-KR" altLang="en-US" sz="1100" b="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작성·제출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50983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26. [공모전] 예선 서류(참가신청서) 제출 9/30 · 통과 발표 10/7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5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10/7</a:t>
                      </a:r>
                      <a:endParaRPr lang="ko-KR" altLang="en-US" sz="95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김지오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9643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27. [공모전] 1차 교류회 주제 발표(NIA 본부, 10/20)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5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10/20</a:t>
                      </a:r>
                      <a:endParaRPr lang="ko-KR" altLang="en-US" sz="95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홍준서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2242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28. [공모전] 상세기획서 제출(프로토타입 포함, 11/3)</a:t>
                      </a:r>
                      <a:endParaRPr lang="ko-KR" altLang="en-US" sz="11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5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11/3</a:t>
                      </a:r>
                      <a:endParaRPr lang="ko-KR" altLang="en-US" sz="95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전원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049059"/>
                  </a:ext>
                </a:extLst>
              </a:tr>
            </a:tbl>
          </a:graphicData>
        </a:graphic>
      </p:graphicFrame>
      <p:sp>
        <p:nvSpPr>
          <p:cNvPr id="9001" name="TextBox 9001"/>
          <p:cNvSpPr txBox="1"/>
          <p:nvPr/>
        </p:nvSpPr>
        <p:spPr>
          <a:xfrm>
            <a:off x="746764" y="9592056"/>
            <a:ext cx="16632937" cy="55861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※ 점선 화살표 = 계획, 실선 화살표 = 실제 수행. 문서·1차 프로토타입은 완료(발표 10/16). 개발은 8~12주 1주 스프린트 5회로 진행해 13주 경진대회 준비 전에 끝내고, 매주 개발 보고서를 제출한다.</a:t>
            </a:r>
            <a:endParaRPr lang="ko-KR" altLang="en-US" sz="1100" dirty="0"/>
          </a:p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※ 주요 마일스톤: 7주 프로토타입 발표(10/16) · 8주 수정 프로토타입(10/22) · 11주 모듈 1차 통합 · 12주 개발 완료(11/20) · 13주 경진대회 준비 · 14주 창의설계 경진대회(12/4) · 16주 최종보고서(12/18)</a:t>
            </a:r>
            <a:endParaRPr lang="ko-KR" altLang="en-US" sz="1100" dirty="0"/>
          </a:p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7A3E9D"/>
                </a:solidFill>
                <a:latin typeface="210 OmniGothic 030"/>
                <a:ea typeface="210 OmniGothic 030"/>
                <a:cs typeface="210 OmniGothic 030"/>
              </a:rPr>
              <a:t>※ </a:t>
            </a:r>
            <a:r>
              <a:rPr lang="ko-KR" alt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210 OmniGothic 030"/>
                <a:ea typeface="210 OmniGothic 030"/>
                <a:cs typeface="210 OmniGothic 030"/>
              </a:rPr>
              <a:t>[공모전] = 2026 AI·디지털 기반 사회문제 해결 챌린지 일정(캡스톤 과제와 별도 트랙)</a:t>
            </a:r>
            <a:endParaRPr lang="ko-KR" altLang="en-US" sz="11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002" name="Connector 9001"/>
          <p:cNvCxnSpPr>
            <a:cxnSpLocks/>
          </p:cNvCxnSpPr>
          <p:nvPr/>
        </p:nvCxnSpPr>
        <p:spPr>
          <a:xfrm>
            <a:off x="6237609" y="2931468"/>
            <a:ext cx="64008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03" name="Connector 9002"/>
          <p:cNvCxnSpPr>
            <a:cxnSpLocks/>
          </p:cNvCxnSpPr>
          <p:nvPr/>
        </p:nvCxnSpPr>
        <p:spPr>
          <a:xfrm>
            <a:off x="6235958" y="3029440"/>
            <a:ext cx="641731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04" name="Connector 9003"/>
          <p:cNvCxnSpPr>
            <a:cxnSpLocks/>
          </p:cNvCxnSpPr>
          <p:nvPr/>
        </p:nvCxnSpPr>
        <p:spPr>
          <a:xfrm>
            <a:off x="6877689" y="3160068"/>
            <a:ext cx="641604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05" name="Connector 9004"/>
          <p:cNvCxnSpPr>
            <a:cxnSpLocks/>
          </p:cNvCxnSpPr>
          <p:nvPr/>
        </p:nvCxnSpPr>
        <p:spPr>
          <a:xfrm>
            <a:off x="6881626" y="3258040"/>
            <a:ext cx="637667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06" name="Connector 9005"/>
          <p:cNvCxnSpPr>
            <a:cxnSpLocks/>
          </p:cNvCxnSpPr>
          <p:nvPr/>
        </p:nvCxnSpPr>
        <p:spPr>
          <a:xfrm>
            <a:off x="7525643" y="3382999"/>
            <a:ext cx="127228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07" name="Connector 9006"/>
          <p:cNvCxnSpPr>
            <a:cxnSpLocks/>
          </p:cNvCxnSpPr>
          <p:nvPr/>
        </p:nvCxnSpPr>
        <p:spPr>
          <a:xfrm>
            <a:off x="7519293" y="3486640"/>
            <a:ext cx="1278636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08" name="Connector 9007"/>
          <p:cNvCxnSpPr>
            <a:cxnSpLocks/>
          </p:cNvCxnSpPr>
          <p:nvPr/>
        </p:nvCxnSpPr>
        <p:spPr>
          <a:xfrm>
            <a:off x="8797929" y="3703447"/>
            <a:ext cx="635635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09" name="Connector 9008"/>
          <p:cNvCxnSpPr>
            <a:cxnSpLocks/>
          </p:cNvCxnSpPr>
          <p:nvPr/>
        </p:nvCxnSpPr>
        <p:spPr>
          <a:xfrm>
            <a:off x="8797929" y="3840312"/>
            <a:ext cx="1279521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0" name="Connector 9009"/>
          <p:cNvCxnSpPr>
            <a:cxnSpLocks/>
          </p:cNvCxnSpPr>
          <p:nvPr/>
        </p:nvCxnSpPr>
        <p:spPr>
          <a:xfrm>
            <a:off x="9433564" y="4077303"/>
            <a:ext cx="1282061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1" name="Connector 9010"/>
          <p:cNvCxnSpPr>
            <a:cxnSpLocks/>
          </p:cNvCxnSpPr>
          <p:nvPr/>
        </p:nvCxnSpPr>
        <p:spPr>
          <a:xfrm>
            <a:off x="8141974" y="4172440"/>
            <a:ext cx="1935476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12" name="Connector 9011"/>
          <p:cNvCxnSpPr>
            <a:cxnSpLocks/>
          </p:cNvCxnSpPr>
          <p:nvPr/>
        </p:nvCxnSpPr>
        <p:spPr>
          <a:xfrm>
            <a:off x="10077450" y="4325293"/>
            <a:ext cx="638175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3" name="Connector 9012"/>
          <p:cNvCxnSpPr>
            <a:cxnSpLocks/>
          </p:cNvCxnSpPr>
          <p:nvPr/>
        </p:nvCxnSpPr>
        <p:spPr>
          <a:xfrm>
            <a:off x="10071739" y="4576572"/>
            <a:ext cx="1288411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4" name="Connector 9013"/>
          <p:cNvCxnSpPr>
            <a:cxnSpLocks/>
          </p:cNvCxnSpPr>
          <p:nvPr/>
        </p:nvCxnSpPr>
        <p:spPr>
          <a:xfrm>
            <a:off x="10071739" y="4805172"/>
            <a:ext cx="128523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5" name="Connector 9014"/>
          <p:cNvCxnSpPr>
            <a:cxnSpLocks/>
          </p:cNvCxnSpPr>
          <p:nvPr/>
        </p:nvCxnSpPr>
        <p:spPr>
          <a:xfrm>
            <a:off x="10071739" y="5033772"/>
            <a:ext cx="1282061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6" name="Connector 9015"/>
          <p:cNvCxnSpPr>
            <a:cxnSpLocks/>
          </p:cNvCxnSpPr>
          <p:nvPr/>
        </p:nvCxnSpPr>
        <p:spPr>
          <a:xfrm>
            <a:off x="10714994" y="5262372"/>
            <a:ext cx="127380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7" name="Connector 9016"/>
          <p:cNvCxnSpPr>
            <a:cxnSpLocks/>
          </p:cNvCxnSpPr>
          <p:nvPr/>
        </p:nvCxnSpPr>
        <p:spPr>
          <a:xfrm>
            <a:off x="11355074" y="5490972"/>
            <a:ext cx="63372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8" name="Connector 9017"/>
          <p:cNvCxnSpPr>
            <a:cxnSpLocks/>
          </p:cNvCxnSpPr>
          <p:nvPr/>
        </p:nvCxnSpPr>
        <p:spPr>
          <a:xfrm>
            <a:off x="10714994" y="5719572"/>
            <a:ext cx="127380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9" name="Connector 9018"/>
          <p:cNvCxnSpPr>
            <a:cxnSpLocks/>
          </p:cNvCxnSpPr>
          <p:nvPr/>
        </p:nvCxnSpPr>
        <p:spPr>
          <a:xfrm>
            <a:off x="11355074" y="5948172"/>
            <a:ext cx="63372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0" name="Connector 9019"/>
          <p:cNvCxnSpPr>
            <a:cxnSpLocks/>
          </p:cNvCxnSpPr>
          <p:nvPr/>
        </p:nvCxnSpPr>
        <p:spPr>
          <a:xfrm>
            <a:off x="10714994" y="6176772"/>
            <a:ext cx="127380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1" name="Connector 9020"/>
          <p:cNvCxnSpPr>
            <a:cxnSpLocks/>
          </p:cNvCxnSpPr>
          <p:nvPr/>
        </p:nvCxnSpPr>
        <p:spPr>
          <a:xfrm>
            <a:off x="11355074" y="6405372"/>
            <a:ext cx="128016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2" name="Connector 9021"/>
          <p:cNvCxnSpPr>
            <a:cxnSpLocks/>
          </p:cNvCxnSpPr>
          <p:nvPr/>
        </p:nvCxnSpPr>
        <p:spPr>
          <a:xfrm>
            <a:off x="10074914" y="6633972"/>
            <a:ext cx="319913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3" name="Connector 9022"/>
          <p:cNvCxnSpPr>
            <a:cxnSpLocks/>
          </p:cNvCxnSpPr>
          <p:nvPr/>
        </p:nvCxnSpPr>
        <p:spPr>
          <a:xfrm>
            <a:off x="11995154" y="6862572"/>
            <a:ext cx="127889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4" name="Connector 9023"/>
          <p:cNvCxnSpPr>
            <a:cxnSpLocks/>
          </p:cNvCxnSpPr>
          <p:nvPr/>
        </p:nvCxnSpPr>
        <p:spPr>
          <a:xfrm>
            <a:off x="11995154" y="7091172"/>
            <a:ext cx="64008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5" name="Connector 9024"/>
          <p:cNvCxnSpPr>
            <a:cxnSpLocks/>
          </p:cNvCxnSpPr>
          <p:nvPr/>
        </p:nvCxnSpPr>
        <p:spPr>
          <a:xfrm>
            <a:off x="11995154" y="7319772"/>
            <a:ext cx="64008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6" name="Connector 9025"/>
          <p:cNvCxnSpPr>
            <a:cxnSpLocks/>
          </p:cNvCxnSpPr>
          <p:nvPr/>
        </p:nvCxnSpPr>
        <p:spPr>
          <a:xfrm>
            <a:off x="12635234" y="7548372"/>
            <a:ext cx="63881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7" name="Connector 9026"/>
          <p:cNvCxnSpPr>
            <a:cxnSpLocks/>
          </p:cNvCxnSpPr>
          <p:nvPr/>
        </p:nvCxnSpPr>
        <p:spPr>
          <a:xfrm>
            <a:off x="12635234" y="7776972"/>
            <a:ext cx="63881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8" name="Connector 9027"/>
          <p:cNvCxnSpPr>
            <a:cxnSpLocks/>
          </p:cNvCxnSpPr>
          <p:nvPr/>
        </p:nvCxnSpPr>
        <p:spPr>
          <a:xfrm>
            <a:off x="13275314" y="8005572"/>
            <a:ext cx="128016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9" name="Connector 9028"/>
          <p:cNvCxnSpPr>
            <a:cxnSpLocks/>
          </p:cNvCxnSpPr>
          <p:nvPr/>
        </p:nvCxnSpPr>
        <p:spPr>
          <a:xfrm>
            <a:off x="14555474" y="8234172"/>
            <a:ext cx="127507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30" name="Connector 9029"/>
          <p:cNvCxnSpPr>
            <a:cxnSpLocks/>
          </p:cNvCxnSpPr>
          <p:nvPr/>
        </p:nvCxnSpPr>
        <p:spPr>
          <a:xfrm>
            <a:off x="10077450" y="8462318"/>
            <a:ext cx="575310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32" name="Connector 9031"/>
          <p:cNvCxnSpPr/>
          <p:nvPr/>
        </p:nvCxnSpPr>
        <p:spPr>
          <a:xfrm>
            <a:off x="9433564" y="2286000"/>
            <a:ext cx="0" cy="7050024"/>
          </a:xfrm>
          <a:prstGeom prst="line">
            <a:avLst/>
          </a:prstGeom>
          <a:ln w="25400">
            <a:solidFill>
              <a:srgbClr val="E8742A"/>
            </a:solidFill>
            <a:prstDash val="dash"/>
          </a:ln>
        </p:spPr>
      </p:cxnSp>
      <p:sp>
        <p:nvSpPr>
          <p:cNvPr id="9033" name="Rounded Rectangle 9032"/>
          <p:cNvSpPr/>
          <p:nvPr/>
        </p:nvSpPr>
        <p:spPr>
          <a:xfrm>
            <a:off x="8884924" y="931773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8742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현재 10/1</a:t>
            </a:r>
            <a:r>
              <a:rPr lang="en-US" altLang="ko-KR"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050"/>
          </a:p>
        </p:txBody>
      </p:sp>
      <p:cxnSp>
        <p:nvCxnSpPr>
          <p:cNvPr id="9034" name="Connector 9033"/>
          <p:cNvCxnSpPr/>
          <p:nvPr/>
        </p:nvCxnSpPr>
        <p:spPr>
          <a:xfrm>
            <a:off x="13274044" y="2286000"/>
            <a:ext cx="0" cy="7050024"/>
          </a:xfrm>
          <a:prstGeom prst="line">
            <a:avLst/>
          </a:prstGeom>
          <a:ln w="25400">
            <a:solidFill>
              <a:srgbClr val="2E7D4F"/>
            </a:solidFill>
            <a:prstDash val="dash"/>
          </a:ln>
        </p:spPr>
      </p:cxnSp>
      <p:sp>
        <p:nvSpPr>
          <p:cNvPr id="9035" name="Rounded Rectangle 9034"/>
          <p:cNvSpPr/>
          <p:nvPr/>
        </p:nvSpPr>
        <p:spPr>
          <a:xfrm>
            <a:off x="12542524" y="9317736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개발 완료 11/20</a:t>
            </a:r>
            <a:endParaRPr lang="ko-KR" altLang="en-US" sz="1050"/>
          </a:p>
        </p:txBody>
      </p:sp>
      <p:cxnSp>
        <p:nvCxnSpPr>
          <p:cNvPr id="9036" name="Connector 9035"/>
          <p:cNvCxnSpPr/>
          <p:nvPr/>
        </p:nvCxnSpPr>
        <p:spPr>
          <a:xfrm>
            <a:off x="8157976" y="8691372"/>
            <a:ext cx="630936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37" name="Connector 9036"/>
          <p:cNvCxnSpPr/>
          <p:nvPr/>
        </p:nvCxnSpPr>
        <p:spPr>
          <a:xfrm>
            <a:off x="9438136" y="8919972"/>
            <a:ext cx="63093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38" name="Connector 9037"/>
          <p:cNvCxnSpPr/>
          <p:nvPr/>
        </p:nvCxnSpPr>
        <p:spPr>
          <a:xfrm>
            <a:off x="9438136" y="9148572"/>
            <a:ext cx="191109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8" name="Connector 9007">
            <a:extLst>
              <a:ext uri="{FF2B5EF4-FFF2-40B4-BE49-F238E27FC236}">
                <a16:creationId xmlns:a16="http://schemas.microsoft.com/office/drawing/2014/main" id="{E103FC65-FBC8-65D3-9064-8C5A4F5F6026}"/>
              </a:ext>
            </a:extLst>
          </p:cNvPr>
          <p:cNvCxnSpPr>
            <a:cxnSpLocks/>
          </p:cNvCxnSpPr>
          <p:nvPr/>
        </p:nvCxnSpPr>
        <p:spPr>
          <a:xfrm>
            <a:off x="8797929" y="3935222"/>
            <a:ext cx="1279521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" name="Connector 9008">
            <a:extLst>
              <a:ext uri="{FF2B5EF4-FFF2-40B4-BE49-F238E27FC236}">
                <a16:creationId xmlns:a16="http://schemas.microsoft.com/office/drawing/2014/main" id="{5B8D5239-BB4A-70C8-74D2-3D04EC4E85B2}"/>
              </a:ext>
            </a:extLst>
          </p:cNvPr>
          <p:cNvCxnSpPr>
            <a:cxnSpLocks/>
          </p:cNvCxnSpPr>
          <p:nvPr/>
        </p:nvCxnSpPr>
        <p:spPr>
          <a:xfrm>
            <a:off x="8797929" y="3605362"/>
            <a:ext cx="635635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sp>
        <p:nvSpPr>
          <p:cNvPr id="9039" name="TextBox 9038"/>
          <p:cNvSpPr txBox="1"/>
          <p:nvPr/>
        </p:nvSpPr>
        <p:spPr>
          <a:xfrm>
            <a:off x="822960" y="173736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개발 일정 및 진행 현황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59349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D3B83-ACB7-8341-A566-AFC5CE3D6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E6ADACC-9BD5-687D-C476-41B1D5E321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D73E44B-B0C2-4379-79AC-21B0CD2E3A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01D47328-1DDD-C31E-6E17-22377CBF6F26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/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6.3 협업 체계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729231-9DB9-AA77-4D36-E0F443A5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2FFD1FAB-1B7F-75F4-A654-132BCA6269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" y="1810512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문서 · 일정 · 데이터 · 코드를 </a:t>
            </a:r>
            <a:r>
              <a:rPr lang="ko-KR" altLang="en-US" sz="26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한 저장소씩</a:t>
            </a:r>
            <a:r>
              <a:rPr lang="ko-KR" alt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두고 주 2회 대면 회의</a:t>
            </a:r>
            <a:endParaRPr lang="ko-KR" altLang="en-US" sz="2600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22960" y="2834640"/>
          <a:ext cx="16642080" cy="608076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10972800"/>
              </a:tblGrid>
              <a:tr h="868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  <a:endParaRPr lang="ko-KR" altLang="en-US" sz="16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도구</a:t>
                      </a:r>
                      <a:endParaRPr lang="ko-KR" altLang="en-US" sz="16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 방식</a:t>
                      </a:r>
                      <a:endParaRPr lang="ko-KR" altLang="en-US" sz="165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문서 공유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Confluence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제안서 · 설계서 · 회의록 · 주간 보고서를 페이지 트리로 관리, 최신본은 Confluence에만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일정 · 이슈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Jira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일정 행을 에픽, 주 단위 작업을 이슈로 · 월요일 스프린트 목표, 금요일 주간 개발 보고서로 리뷰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수집 데이터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Google Drive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팀 공용 계정 · 폴더별 데이터, 버전은 파일명 날짜 · 대용량 원천은 GPU 서버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코드 관리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GitHub Organization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frontend · backend · docs 저장소, 기능 브랜치 → Pull Request, 담당 외 1인 리뷰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대면 회의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주 2회 월 · 금 (3시간)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월: 주간 계획 · Jira 점검 / 금: 산출물 시연 · 기술 공유 세션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비대면 회의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Discord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필요 시 소집, 화면 공유로 코드 · 화면 검토, 결정 사항은 Confluence 회의록으로</a:t>
                      </a:r>
                      <a:endParaRPr lang="ko-KR" altLang="en-US" sz="1600"/>
                    </a:p>
                  </a:txBody>
                  <a:tcPr marL="64008" marT="27432" marR="64008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49919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A7DC0-DBE7-0C09-88D7-7E6A397F0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6E0D7733-EFF0-C94A-9BDF-D4BFC70307D4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97E22D5-BACD-C7C6-8BBE-CA0CBBA3BE08}"/>
              </a:ext>
            </a:extLst>
          </p:cNvPr>
          <p:cNvSpPr txBox="1"/>
          <p:nvPr/>
        </p:nvSpPr>
        <p:spPr>
          <a:xfrm>
            <a:off x="7534275" y="4699000"/>
            <a:ext cx="321945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7.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기대효과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65D5EC-7E37-921C-0D3A-43ED370F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44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4398A-FDED-36C8-2D40-6DD374582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924B7D5-4BB3-6CB4-5FAE-CBF883A19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EAF6CF6-7B88-40CB-426A-84620183DA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7DF565B-6F32-3AAF-8D38-E92589962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0C78BCB-4647-D540-7163-A01F9F935C40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724650" y="6184900"/>
            <a:ext cx="4813300" cy="254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7938ABCF-1E2A-E895-5919-9FB326609383}"/>
              </a:ext>
            </a:extLst>
          </p:cNvPr>
          <p:cNvSpPr txBox="1"/>
          <p:nvPr/>
        </p:nvSpPr>
        <p:spPr>
          <a:xfrm>
            <a:off x="9918700" y="5631996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B2B : 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타 재난</a:t>
            </a:r>
            <a:r>
              <a:rPr lang="en-US" altLang="ko-KR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·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규정 분야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코퍼스와 판정 규칙 교체로 구조 재사용</a:t>
            </a:r>
            <a:r>
              <a:rPr lang="ko-KR" altLang="en-US" sz="1999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C6CC9D0-5DD7-A45F-74B9-129C47488B6A}"/>
              </a:ext>
            </a:extLst>
          </p:cNvPr>
          <p:cNvSpPr txBox="1"/>
          <p:nvPr/>
        </p:nvSpPr>
        <p:spPr>
          <a:xfrm>
            <a:off x="9918700" y="4267653"/>
            <a:ext cx="5080000" cy="111669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B2G : 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지자체</a:t>
            </a:r>
            <a:r>
              <a:rPr lang="en-US" altLang="ko-KR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·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산림청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공공데이터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정부 내부 자료 · 자체 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GPU 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기반 표준 판단 도구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02C498C-EBAA-9553-973F-8176EB4131F9}"/>
              </a:ext>
            </a:extLst>
          </p:cNvPr>
          <p:cNvSpPr txBox="1"/>
          <p:nvPr/>
        </p:nvSpPr>
        <p:spPr>
          <a:xfrm>
            <a:off x="9918700" y="3467100"/>
            <a:ext cx="4165600" cy="55880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9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산업적 효과</a:t>
            </a:r>
            <a:endParaRPr lang="en-US" sz="29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02245CD-B4AA-63E7-36ED-A6CCB7C6D914}"/>
              </a:ext>
            </a:extLst>
          </p:cNvPr>
          <p:cNvSpPr txBox="1"/>
          <p:nvPr/>
        </p:nvSpPr>
        <p:spPr>
          <a:xfrm>
            <a:off x="1841500" y="2019300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3600" b="1" i="0" u="none" strike="noStrike" spc="-100" dirty="0">
                <a:solidFill>
                  <a:srgbClr val="363A52"/>
                </a:solidFill>
                <a:latin typeface="210 OmniGothic 050" panose="020B0600000101010101" charset="-127"/>
                <a:ea typeface="210 OmniGothic 050" panose="020B0600000101010101" charset="-127"/>
                <a:cs typeface="210 OmniGothic 040"/>
              </a:rPr>
              <a:t>“</a:t>
            </a:r>
            <a:r>
              <a:rPr lang="ko-KR" altLang="en-US" sz="3600" b="1" i="0" u="none" strike="noStrike" spc="-100" dirty="0">
                <a:solidFill>
                  <a:srgbClr val="363A52"/>
                </a:solidFill>
                <a:latin typeface="210 OmniGothic 050" panose="020B0600000101010101" charset="-127"/>
                <a:ea typeface="210 OmniGothic 050" panose="020B0600000101010101" charset="-127"/>
                <a:cs typeface="210 OmniGothic 040"/>
              </a:rPr>
              <a:t>예측을 행동 근거로 바꾸고</a:t>
            </a:r>
            <a:r>
              <a:rPr lang="en-US" altLang="ko-KR" sz="3600" b="1" i="0" u="none" strike="noStrike" spc="-100" dirty="0">
                <a:solidFill>
                  <a:srgbClr val="363A52"/>
                </a:solidFill>
                <a:latin typeface="210 OmniGothic 050" panose="020B0600000101010101" charset="-127"/>
                <a:ea typeface="210 OmniGothic 050" panose="020B0600000101010101" charset="-127"/>
                <a:cs typeface="210 OmniGothic 040"/>
              </a:rPr>
              <a:t>, </a:t>
            </a:r>
            <a:r>
              <a:rPr lang="ko-KR" altLang="en-US" sz="3600" b="1" i="0" u="none" strike="noStrike" spc="-100" dirty="0">
                <a:solidFill>
                  <a:srgbClr val="363A52"/>
                </a:solidFill>
                <a:latin typeface="210 OmniGothic 050" panose="020B0600000101010101" charset="-127"/>
                <a:ea typeface="210 OmniGothic 050" panose="020B0600000101010101" charset="-127"/>
                <a:cs typeface="210 OmniGothic 040"/>
              </a:rPr>
              <a:t>재난 대응 구조로 확장</a:t>
            </a:r>
            <a:r>
              <a:rPr lang="en-US" altLang="ko-KR" sz="3600" b="1" i="0" u="none" strike="noStrike" spc="-100" dirty="0">
                <a:solidFill>
                  <a:srgbClr val="363A52"/>
                </a:solidFill>
                <a:latin typeface="210 OmniGothic 050" panose="020B0600000101010101" charset="-127"/>
                <a:ea typeface="210 OmniGothic 050" panose="020B0600000101010101" charset="-127"/>
                <a:cs typeface="210 OmniGothic 040"/>
              </a:rPr>
              <a:t>”</a:t>
            </a:r>
            <a:endParaRPr lang="ko-KR" altLang="en-US" sz="3600" b="1" i="0" u="none" strike="noStrike" spc="-100" dirty="0">
              <a:solidFill>
                <a:srgbClr val="363A52"/>
              </a:solidFill>
              <a:latin typeface="210 OmniGothic 050" panose="020B0600000101010101" charset="-127"/>
              <a:ea typeface="210 OmniGothic 050" panose="020B0600000101010101" charset="-127"/>
              <a:cs typeface="210 OmniGothic 040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958304B-632D-EC52-F5D4-B3CA93A47B28}"/>
              </a:ext>
            </a:extLst>
          </p:cNvPr>
          <p:cNvSpPr txBox="1"/>
          <p:nvPr/>
        </p:nvSpPr>
        <p:spPr>
          <a:xfrm>
            <a:off x="825500" y="469900"/>
            <a:ext cx="72517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7.1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사회적</a:t>
            </a:r>
            <a:r>
              <a:rPr lang="en-US" altLang="ko-KR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·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산업적 효과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99997C8C-1C58-C274-4D9B-8C008163A403}"/>
              </a:ext>
            </a:extLst>
          </p:cNvPr>
          <p:cNvSpPr txBox="1"/>
          <p:nvPr/>
        </p:nvSpPr>
        <p:spPr>
          <a:xfrm>
            <a:off x="1663700" y="6769100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지휘 공백 축소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 통과와 인계 준비 사전 권고</a:t>
            </a:r>
          </a:p>
          <a:p>
            <a:pPr lvl="0" algn="l">
              <a:lnSpc>
                <a:spcPct val="116199"/>
              </a:lnSpc>
            </a:pP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98063CFB-632C-FC9B-84B9-37F5992BD51D}"/>
              </a:ext>
            </a:extLst>
          </p:cNvPr>
          <p:cNvSpPr txBox="1"/>
          <p:nvPr/>
        </p:nvSpPr>
        <p:spPr>
          <a:xfrm>
            <a:off x="1663700" y="5727700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판단 항목별 제안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 7 · 대피 7, 실행 구분 · 권한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</a:p>
          <a:p>
            <a:pPr lvl="0" algn="l">
              <a:lnSpc>
                <a:spcPct val="116199"/>
              </a:lnSpc>
            </a:pP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6A72AA8D-856B-192B-EDEA-5046DCA899E6}"/>
              </a:ext>
            </a:extLst>
          </p:cNvPr>
          <p:cNvSpPr txBox="1"/>
          <p:nvPr/>
        </p:nvSpPr>
        <p:spPr>
          <a:xfrm>
            <a:off x="1663700" y="4699000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0000"/>
              </a:lnSpc>
            </a:pP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대피 판단 앞당김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>
              <a:lnSpc>
                <a:spcPct val="116199"/>
              </a:lnSpc>
            </a:pPr>
            <a:r>
              <a:rPr lang="ko-KR" altLang="en-US" sz="19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위험구역(P5) · 대피 순서 · 대피소</a:t>
            </a:r>
            <a:r>
              <a:rPr lang="en-US" altLang="ko-KR" sz="19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19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</a:p>
          <a:p>
            <a:pPr lvl="0">
              <a:lnSpc>
                <a:spcPct val="116199"/>
              </a:lnSpc>
            </a:pP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10925268-D15B-80F3-CEA3-647FF6804225}"/>
              </a:ext>
            </a:extLst>
          </p:cNvPr>
          <p:cNvSpPr txBox="1"/>
          <p:nvPr/>
        </p:nvSpPr>
        <p:spPr>
          <a:xfrm>
            <a:off x="1676400" y="3479800"/>
            <a:ext cx="4165600" cy="55880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9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사회</a:t>
            </a:r>
            <a:r>
              <a:rPr lang="ko-KR" altLang="en-US" sz="29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적 효과</a:t>
            </a:r>
            <a:endParaRPr lang="en-US" sz="29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AB81C35-2C8C-A1E7-F13D-E7D5A8DD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" name="TextBox 13">
            <a:extLst>
              <a:ext uri="{FF2B5EF4-FFF2-40B4-BE49-F238E27FC236}">
                <a16:creationId xmlns:a16="http://schemas.microsoft.com/office/drawing/2014/main" id="{93D03BDF-DA88-DD08-0BDC-48FFAAB956E1}"/>
              </a:ext>
            </a:extLst>
          </p:cNvPr>
          <p:cNvSpPr txBox="1"/>
          <p:nvPr/>
        </p:nvSpPr>
        <p:spPr>
          <a:xfrm>
            <a:off x="1663700" y="7886700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판단 투명성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조항 인용 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부족 표시</a:t>
            </a:r>
          </a:p>
          <a:p>
            <a:pPr lvl="0" algn="l">
              <a:lnSpc>
                <a:spcPct val="116199"/>
              </a:lnSpc>
            </a:pP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</p:spTree>
    <p:extLst>
      <p:ext uri="{BB962C8B-B14F-4D97-AF65-F5344CB8AC3E}">
        <p14:creationId xmlns:p14="http://schemas.microsoft.com/office/powerpoint/2010/main" val="910264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B047-83FD-C058-26B8-8F03C1F8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C650C60-B00B-1586-6005-5F5D5924A7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C59BE89-ECAB-71D3-8652-74F08DCA64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9AB7ED8F-B2E9-AF04-37C8-E935939A0605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7.2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기술적 효과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673349-3B0F-7A22-C1FB-36B52A6CF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C4DC20C5-9834-1272-AA27-D9087C0B046B}"/>
              </a:ext>
            </a:extLst>
          </p:cNvPr>
          <p:cNvSpPr txBox="1"/>
          <p:nvPr/>
        </p:nvSpPr>
        <p:spPr>
          <a:xfrm>
            <a:off x="5513701" y="1846889"/>
            <a:ext cx="7630799" cy="8476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599" spc="-1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서로 다른 세 기술을 한 요청 처리 파이프라인으로 결합</a:t>
            </a:r>
            <a:endParaRPr lang="ko-KR" altLang="en-US" sz="2599" spc="-100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26B4AB64-1997-91E9-2062-0EC6200477F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110" y="3074657"/>
            <a:ext cx="5200650" cy="33371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BCD218-2E3F-1AFA-B0E8-78BE5FDDE1AA}"/>
              </a:ext>
            </a:extLst>
          </p:cNvPr>
          <p:cNvSpPr txBox="1"/>
          <p:nvPr/>
        </p:nvSpPr>
        <p:spPr>
          <a:xfrm>
            <a:off x="2042410" y="5067300"/>
            <a:ext cx="276605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시계열 라벨 없이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물리 모델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+ </a:t>
            </a: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IoU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보정</a:t>
            </a:r>
          </a:p>
        </p:txBody>
      </p:sp>
      <p:pic>
        <p:nvPicPr>
          <p:cNvPr id="12" name="Picture 15">
            <a:extLst>
              <a:ext uri="{FF2B5EF4-FFF2-40B4-BE49-F238E27FC236}">
                <a16:creationId xmlns:a16="http://schemas.microsoft.com/office/drawing/2014/main" id="{5DD0289A-F2C9-17BB-E5BC-440BBC89405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5230" y="3048836"/>
            <a:ext cx="5200650" cy="33371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F72D8DF-D735-37A7-FBEE-F01A8D4ED9AA}"/>
              </a:ext>
            </a:extLst>
          </p:cNvPr>
          <p:cNvSpPr txBox="1"/>
          <p:nvPr/>
        </p:nvSpPr>
        <p:spPr>
          <a:xfrm>
            <a:off x="5030251" y="8791251"/>
            <a:ext cx="8597697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hold-out 자동 평가  |  확산 5종 · RAGAS 4종 · RAG Ablation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</a:p>
        </p:txBody>
      </p:sp>
      <p:pic>
        <p:nvPicPr>
          <p:cNvPr id="23" name="Picture 15">
            <a:extLst>
              <a:ext uri="{FF2B5EF4-FFF2-40B4-BE49-F238E27FC236}">
                <a16:creationId xmlns:a16="http://schemas.microsoft.com/office/drawing/2014/main" id="{7F0B374C-8678-5D4D-684A-8E34CC71F42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25350" y="3048836"/>
            <a:ext cx="5200650" cy="3337113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AE1573A-BB3D-6EE2-3D06-DC62DCEB8D2F}"/>
              </a:ext>
            </a:extLst>
          </p:cNvPr>
          <p:cNvSpPr/>
          <p:nvPr/>
        </p:nvSpPr>
        <p:spPr>
          <a:xfrm>
            <a:off x="1295400" y="6958685"/>
            <a:ext cx="15532100" cy="153457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EEF1CF-FB07-2ED5-903F-E91B05FF55E4}"/>
              </a:ext>
            </a:extLst>
          </p:cNvPr>
          <p:cNvSpPr txBox="1"/>
          <p:nvPr/>
        </p:nvSpPr>
        <p:spPr>
          <a:xfrm>
            <a:off x="1643179" y="7144954"/>
            <a:ext cx="250500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정량 산출물 경로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200C6A-AF4E-5238-F3E5-316C58BDEB89}"/>
              </a:ext>
            </a:extLst>
          </p:cNvPr>
          <p:cNvSpPr txBox="1"/>
          <p:nvPr/>
        </p:nvSpPr>
        <p:spPr>
          <a:xfrm>
            <a:off x="7792530" y="5104254"/>
            <a:ext cx="276605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P5 · 23개 변수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경계값 · 수치 판정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FBB7A2-E981-1F2A-B9F3-EA07CBA154C1}"/>
              </a:ext>
            </a:extLst>
          </p:cNvPr>
          <p:cNvSpPr txBox="1"/>
          <p:nvPr/>
        </p:nvSpPr>
        <p:spPr>
          <a:xfrm>
            <a:off x="13542649" y="5109076"/>
            <a:ext cx="276605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KURE-v1 + FAISS</a:t>
            </a:r>
          </a:p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EXAONE 판단 · 인용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B6AFAD-0023-EB73-8141-5A527DCB470A}"/>
              </a:ext>
            </a:extLst>
          </p:cNvPr>
          <p:cNvSpPr txBox="1"/>
          <p:nvPr/>
        </p:nvSpPr>
        <p:spPr>
          <a:xfrm>
            <a:off x="2616201" y="4381500"/>
            <a:ext cx="155411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D17BFF-509B-072E-3F8F-87E7D617053C}"/>
              </a:ext>
            </a:extLst>
          </p:cNvPr>
          <p:cNvSpPr txBox="1"/>
          <p:nvPr/>
        </p:nvSpPr>
        <p:spPr>
          <a:xfrm>
            <a:off x="7877502" y="4381500"/>
            <a:ext cx="276605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위험도·단계 판정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2FF400-0905-E45A-758F-8BEB4EA87AA4}"/>
              </a:ext>
            </a:extLst>
          </p:cNvPr>
          <p:cNvSpPr txBox="1"/>
          <p:nvPr/>
        </p:nvSpPr>
        <p:spPr>
          <a:xfrm>
            <a:off x="13483495" y="4414462"/>
            <a:ext cx="276604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기반 제안 생성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3F405E58-47C7-D9C6-6E93-41F6EC289F11}"/>
              </a:ext>
            </a:extLst>
          </p:cNvPr>
          <p:cNvGrpSpPr/>
          <p:nvPr/>
        </p:nvGrpSpPr>
        <p:grpSpPr>
          <a:xfrm>
            <a:off x="13924780" y="3337410"/>
            <a:ext cx="2001785" cy="747849"/>
            <a:chOff x="13944600" y="3204344"/>
            <a:chExt cx="2001785" cy="747849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D00BBD9-BD0F-74F0-1E91-2BD2D19F2238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TextBox 21">
              <a:extLst>
                <a:ext uri="{FF2B5EF4-FFF2-40B4-BE49-F238E27FC236}">
                  <a16:creationId xmlns:a16="http://schemas.microsoft.com/office/drawing/2014/main" id="{C2CA2CD4-88DF-775B-1C17-02626773CF01}"/>
                </a:ext>
              </a:extLst>
            </p:cNvPr>
            <p:cNvSpPr txBox="1"/>
            <p:nvPr/>
          </p:nvSpPr>
          <p:spPr>
            <a:xfrm>
              <a:off x="14137505" y="330972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altLang="ko-KR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RAG</a:t>
              </a:r>
              <a:endPara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43CEB5BF-260B-BBD7-5358-6D4D31EC961B}"/>
              </a:ext>
            </a:extLst>
          </p:cNvPr>
          <p:cNvGrpSpPr/>
          <p:nvPr/>
        </p:nvGrpSpPr>
        <p:grpSpPr>
          <a:xfrm>
            <a:off x="8264339" y="3344350"/>
            <a:ext cx="2001785" cy="747849"/>
            <a:chOff x="13944600" y="3204344"/>
            <a:chExt cx="2001785" cy="747849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D7D5D05-8835-9A7D-5A45-5C6B5A61C1B3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TextBox 21">
              <a:extLst>
                <a:ext uri="{FF2B5EF4-FFF2-40B4-BE49-F238E27FC236}">
                  <a16:creationId xmlns:a16="http://schemas.microsoft.com/office/drawing/2014/main" id="{DBFF1C6E-1406-CBAA-0949-6326423E187E}"/>
                </a:ext>
              </a:extLst>
            </p:cNvPr>
            <p:cNvSpPr txBox="1"/>
            <p:nvPr/>
          </p:nvSpPr>
          <p:spPr>
            <a:xfrm>
              <a:off x="14137505" y="330972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altLang="ko-KR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RULE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853AD58D-55C6-712C-B4A0-F4B2521DDE5E}"/>
              </a:ext>
            </a:extLst>
          </p:cNvPr>
          <p:cNvGrpSpPr/>
          <p:nvPr/>
        </p:nvGrpSpPr>
        <p:grpSpPr>
          <a:xfrm>
            <a:off x="2424542" y="3336656"/>
            <a:ext cx="2001785" cy="747849"/>
            <a:chOff x="13944600" y="3204344"/>
            <a:chExt cx="2001785" cy="747849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C792D669-C05D-4EE5-6A3C-7258A5F6E53B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5" name="TextBox 21">
              <a:extLst>
                <a:ext uri="{FF2B5EF4-FFF2-40B4-BE49-F238E27FC236}">
                  <a16:creationId xmlns:a16="http://schemas.microsoft.com/office/drawing/2014/main" id="{8485516A-8803-7CDD-3182-2B5F7E074B50}"/>
                </a:ext>
              </a:extLst>
            </p:cNvPr>
            <p:cNvSpPr txBox="1"/>
            <p:nvPr/>
          </p:nvSpPr>
          <p:spPr>
            <a:xfrm>
              <a:off x="14137505" y="330972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altLang="ko-KR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PHYSICS</a:t>
              </a:r>
              <a:endPara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72900C7-E3CA-77CB-A3B9-5B27F41FF350}"/>
              </a:ext>
            </a:extLst>
          </p:cNvPr>
          <p:cNvSpPr txBox="1"/>
          <p:nvPr/>
        </p:nvSpPr>
        <p:spPr>
          <a:xfrm>
            <a:off x="1790783" y="7787733"/>
            <a:ext cx="2209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LLM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생성 경로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BFCC8-3288-0210-F0B1-A61007CB654B}"/>
              </a:ext>
            </a:extLst>
          </p:cNvPr>
          <p:cNvSpPr txBox="1"/>
          <p:nvPr/>
        </p:nvSpPr>
        <p:spPr>
          <a:xfrm>
            <a:off x="5807274" y="7144954"/>
            <a:ext cx="4140455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 경계 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 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 단계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1DDBA8-75B3-3985-B438-E472A46A1B2C}"/>
              </a:ext>
            </a:extLst>
          </p:cNvPr>
          <p:cNvSpPr txBox="1"/>
          <p:nvPr/>
        </p:nvSpPr>
        <p:spPr>
          <a:xfrm>
            <a:off x="5807274" y="7805291"/>
            <a:ext cx="401253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확정값 유지 · 검색 청크 인용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2500" b="1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7C30AA-51EB-918D-7BE3-574C053E8074}"/>
              </a:ext>
            </a:extLst>
          </p:cNvPr>
          <p:cNvSpPr txBox="1"/>
          <p:nvPr/>
        </p:nvSpPr>
        <p:spPr>
          <a:xfrm>
            <a:off x="12578400" y="7462831"/>
            <a:ext cx="3348165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→  위험 노출 범위 제한</a:t>
            </a:r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B222A6B1-6494-4CE3-C036-06FF723E0B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410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349F-AD5A-1450-273F-AD4550560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9F0AE27-AE37-1741-A9EB-08B3E32E7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BA94CC4-C102-5EC5-718E-247387CF14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E9ECD07C-0E78-EE5E-2216-CE7A1828F570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7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.3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팀 성장 목표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pic>
        <p:nvPicPr>
          <p:cNvPr id="74" name="Picture 15">
            <a:extLst>
              <a:ext uri="{FF2B5EF4-FFF2-40B4-BE49-F238E27FC236}">
                <a16:creationId xmlns:a16="http://schemas.microsoft.com/office/drawing/2014/main" id="{42A125B2-418B-7878-4757-F3A3E207BDE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336" y="6948354"/>
            <a:ext cx="4000500" cy="2217192"/>
          </a:xfrm>
          <a:prstGeom prst="rect">
            <a:avLst/>
          </a:prstGeom>
        </p:spPr>
      </p:pic>
      <p:sp>
        <p:nvSpPr>
          <p:cNvPr id="76" name="TextBox 25">
            <a:extLst>
              <a:ext uri="{FF2B5EF4-FFF2-40B4-BE49-F238E27FC236}">
                <a16:creationId xmlns:a16="http://schemas.microsoft.com/office/drawing/2014/main" id="{11ABF34A-28B8-8BB2-6C1E-3B34108239D1}"/>
              </a:ext>
            </a:extLst>
          </p:cNvPr>
          <p:cNvSpPr txBox="1"/>
          <p:nvPr/>
        </p:nvSpPr>
        <p:spPr>
          <a:xfrm>
            <a:off x="1238250" y="7298575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황승준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86" name="Picture 15">
            <a:extLst>
              <a:ext uri="{FF2B5EF4-FFF2-40B4-BE49-F238E27FC236}">
                <a16:creationId xmlns:a16="http://schemas.microsoft.com/office/drawing/2014/main" id="{5CB7B857-C8BE-8E62-2CED-18AD7A897BE7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172" y="6948354"/>
            <a:ext cx="4000500" cy="2217192"/>
          </a:xfrm>
          <a:prstGeom prst="rect">
            <a:avLst/>
          </a:prstGeom>
        </p:spPr>
      </p:pic>
      <p:pic>
        <p:nvPicPr>
          <p:cNvPr id="88" name="Picture 15">
            <a:extLst>
              <a:ext uri="{FF2B5EF4-FFF2-40B4-BE49-F238E27FC236}">
                <a16:creationId xmlns:a16="http://schemas.microsoft.com/office/drawing/2014/main" id="{CD0D154F-F4B4-5590-3D67-F2873D3C51B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6400" y="6948354"/>
            <a:ext cx="4000500" cy="2217192"/>
          </a:xfrm>
          <a:prstGeom prst="rect">
            <a:avLst/>
          </a:prstGeom>
        </p:spPr>
      </p:pic>
      <p:pic>
        <p:nvPicPr>
          <p:cNvPr id="90" name="Picture 15">
            <a:extLst>
              <a:ext uri="{FF2B5EF4-FFF2-40B4-BE49-F238E27FC236}">
                <a16:creationId xmlns:a16="http://schemas.microsoft.com/office/drawing/2014/main" id="{DE090C75-4616-3A49-316B-AE2ED079988B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06236" y="6948354"/>
            <a:ext cx="4000500" cy="221719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275E992-9B28-DE68-A4C3-D894C4565CF3}"/>
              </a:ext>
            </a:extLst>
          </p:cNvPr>
          <p:cNvSpPr txBox="1"/>
          <p:nvPr/>
        </p:nvSpPr>
        <p:spPr>
          <a:xfrm>
            <a:off x="857250" y="8050659"/>
            <a:ext cx="37338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공간 데이터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·FastAPI·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규칙 검증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4" name="TextBox 25">
            <a:extLst>
              <a:ext uri="{FF2B5EF4-FFF2-40B4-BE49-F238E27FC236}">
                <a16:creationId xmlns:a16="http://schemas.microsoft.com/office/drawing/2014/main" id="{07C8C100-1871-5078-9AE5-221ECA6A4E05}"/>
              </a:ext>
            </a:extLst>
          </p:cNvPr>
          <p:cNvSpPr txBox="1"/>
          <p:nvPr/>
        </p:nvSpPr>
        <p:spPr>
          <a:xfrm>
            <a:off x="5519964" y="7298575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김지오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B8A4411-98F6-A199-B5BE-3C4CDB8484FE}"/>
              </a:ext>
            </a:extLst>
          </p:cNvPr>
          <p:cNvSpPr txBox="1"/>
          <p:nvPr/>
        </p:nvSpPr>
        <p:spPr>
          <a:xfrm>
            <a:off x="5138964" y="8050659"/>
            <a:ext cx="37338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RAG 전 구간 RAGAS 평가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8" name="TextBox 25">
            <a:extLst>
              <a:ext uri="{FF2B5EF4-FFF2-40B4-BE49-F238E27FC236}">
                <a16:creationId xmlns:a16="http://schemas.microsoft.com/office/drawing/2014/main" id="{71AD15CA-5980-5F4E-A842-A804B22DAE4A}"/>
              </a:ext>
            </a:extLst>
          </p:cNvPr>
          <p:cNvSpPr txBox="1"/>
          <p:nvPr/>
        </p:nvSpPr>
        <p:spPr>
          <a:xfrm>
            <a:off x="9823450" y="7298575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홍준서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7A2B00A-53E9-6045-F15C-CEC5562445A7}"/>
              </a:ext>
            </a:extLst>
          </p:cNvPr>
          <p:cNvSpPr txBox="1"/>
          <p:nvPr/>
        </p:nvSpPr>
        <p:spPr>
          <a:xfrm>
            <a:off x="9442450" y="8050659"/>
            <a:ext cx="37338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 입력·실행·하한 달성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2" name="TextBox 25">
            <a:extLst>
              <a:ext uri="{FF2B5EF4-FFF2-40B4-BE49-F238E27FC236}">
                <a16:creationId xmlns:a16="http://schemas.microsoft.com/office/drawing/2014/main" id="{FE6E720D-0B30-9AB1-98AE-8E5ED6C76217}"/>
              </a:ext>
            </a:extLst>
          </p:cNvPr>
          <p:cNvSpPr txBox="1"/>
          <p:nvPr/>
        </p:nvSpPr>
        <p:spPr>
          <a:xfrm>
            <a:off x="14084300" y="7298575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임성민</a:t>
            </a:r>
          </a:p>
          <a:p>
            <a:pPr lvl="0" algn="ctr">
              <a:lnSpc>
                <a:spcPct val="116199"/>
              </a:lnSpc>
            </a:pP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6488CFB-A366-40F5-767E-272BF73006AA}"/>
              </a:ext>
            </a:extLst>
          </p:cNvPr>
          <p:cNvSpPr txBox="1"/>
          <p:nvPr/>
        </p:nvSpPr>
        <p:spPr>
          <a:xfrm>
            <a:off x="13703300" y="8050659"/>
            <a:ext cx="37338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MapLibre 지도·권한별 UI 연동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6" name="Picture 14">
            <a:extLst>
              <a:ext uri="{FF2B5EF4-FFF2-40B4-BE49-F238E27FC236}">
                <a16:creationId xmlns:a16="http://schemas.microsoft.com/office/drawing/2014/main" id="{127D39AC-E53F-48EE-4ABD-82A84D5B50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87550" y="1955800"/>
            <a:ext cx="14312900" cy="977900"/>
          </a:xfrm>
          <a:prstGeom prst="rect">
            <a:avLst/>
          </a:prstGeom>
          <a:effectLst>
            <a:outerShdw dist="89682" dir="5400000">
              <a:srgbClr val="FAA95A">
                <a:alpha val="50000"/>
              </a:srgbClr>
            </a:outerShdw>
          </a:effectLst>
        </p:spPr>
      </p:pic>
      <p:sp>
        <p:nvSpPr>
          <p:cNvPr id="8" name="TextBox 22">
            <a:extLst>
              <a:ext uri="{FF2B5EF4-FFF2-40B4-BE49-F238E27FC236}">
                <a16:creationId xmlns:a16="http://schemas.microsoft.com/office/drawing/2014/main" id="{9E9094A4-542F-D0E3-B69E-D20CF4B74F70}"/>
              </a:ext>
            </a:extLst>
          </p:cNvPr>
          <p:cNvSpPr txBox="1"/>
          <p:nvPr/>
        </p:nvSpPr>
        <p:spPr>
          <a:xfrm>
            <a:off x="4261984" y="2209650"/>
            <a:ext cx="9477375" cy="586380"/>
          </a:xfrm>
          <a:prstGeom prst="rect">
            <a:avLst/>
          </a:prstGeom>
        </p:spPr>
        <p:txBody>
          <a:bodyPr lIns="0" tIns="38099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999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모든 팀원이 전체 파이프라인의 원리와 실패 조건을 설명</a:t>
            </a:r>
            <a:endParaRPr lang="ko-KR" altLang="en-US" sz="2999" b="0" i="0" u="none" strike="noStrike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A1DDE933-23EA-3000-52E3-9BCB00FAC3EC}"/>
              </a:ext>
            </a:extLst>
          </p:cNvPr>
          <p:cNvSpPr txBox="1"/>
          <p:nvPr/>
        </p:nvSpPr>
        <p:spPr>
          <a:xfrm>
            <a:off x="690336" y="6438900"/>
            <a:ext cx="2281464" cy="54018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개인별 도달 목표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7F8DE2-FB92-21FE-212B-7A9DCE9F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83FBA6A5-CE21-74AA-195A-F41568B3E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13" name="Picture 15">
            <a:extLst>
              <a:ext uri="{FF2B5EF4-FFF2-40B4-BE49-F238E27FC236}">
                <a16:creationId xmlns:a16="http://schemas.microsoft.com/office/drawing/2014/main" id="{6C669D9E-584E-65F3-9671-6091319CF9FC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336" y="3238500"/>
            <a:ext cx="4000500" cy="2737384"/>
          </a:xfrm>
          <a:prstGeom prst="rect">
            <a:avLst/>
          </a:prstGeom>
        </p:spPr>
      </p:pic>
      <p:pic>
        <p:nvPicPr>
          <p:cNvPr id="17" name="Picture 15">
            <a:extLst>
              <a:ext uri="{FF2B5EF4-FFF2-40B4-BE49-F238E27FC236}">
                <a16:creationId xmlns:a16="http://schemas.microsoft.com/office/drawing/2014/main" id="{39F2648A-B53C-E2CA-1580-F8EF3B308B3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172" y="3238500"/>
            <a:ext cx="4000500" cy="2737384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3EA9EBDF-B1B8-6972-D370-5198028E974F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6400" y="3238500"/>
            <a:ext cx="4000500" cy="2737384"/>
          </a:xfrm>
          <a:prstGeom prst="rect">
            <a:avLst/>
          </a:prstGeom>
        </p:spPr>
      </p:pic>
      <p:pic>
        <p:nvPicPr>
          <p:cNvPr id="25" name="Picture 15">
            <a:extLst>
              <a:ext uri="{FF2B5EF4-FFF2-40B4-BE49-F238E27FC236}">
                <a16:creationId xmlns:a16="http://schemas.microsoft.com/office/drawing/2014/main" id="{193958FF-DCAF-7A50-0462-82F8337FCF8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06236" y="3238500"/>
            <a:ext cx="4000500" cy="2737384"/>
          </a:xfrm>
          <a:prstGeom prst="rect">
            <a:avLst/>
          </a:prstGeom>
        </p:spPr>
      </p:pic>
      <p:sp>
        <p:nvSpPr>
          <p:cNvPr id="66" name="TextBox 25">
            <a:extLst>
              <a:ext uri="{FF2B5EF4-FFF2-40B4-BE49-F238E27FC236}">
                <a16:creationId xmlns:a16="http://schemas.microsoft.com/office/drawing/2014/main" id="{51F9BB79-200A-86B4-5B77-49DB3421A34E}"/>
              </a:ext>
            </a:extLst>
          </p:cNvPr>
          <p:cNvSpPr txBox="1"/>
          <p:nvPr/>
        </p:nvSpPr>
        <p:spPr>
          <a:xfrm>
            <a:off x="838200" y="4601252"/>
            <a:ext cx="3733800" cy="43258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 · </a:t>
            </a:r>
            <a:r>
              <a:rPr lang="ko-KR" altLang="en-US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규칙 </a:t>
            </a:r>
            <a:r>
              <a:rPr lang="en-US" altLang="ko-KR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RAG </a:t>
            </a:r>
            <a:r>
              <a:rPr lang="ko-KR" altLang="en-US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연결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C5AE17-2CC9-3174-78DD-10742E2F0D5B}"/>
              </a:ext>
            </a:extLst>
          </p:cNvPr>
          <p:cNvSpPr txBox="1"/>
          <p:nvPr/>
        </p:nvSpPr>
        <p:spPr>
          <a:xfrm>
            <a:off x="681264" y="5016772"/>
            <a:ext cx="3850792" cy="43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담당 외 모듈의 입출력</a:t>
            </a:r>
            <a:r>
              <a:rPr lang="en-US" altLang="ko-KR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한계 설명</a:t>
            </a:r>
          </a:p>
        </p:txBody>
      </p:sp>
      <p:sp>
        <p:nvSpPr>
          <p:cNvPr id="70" name="TextBox 25">
            <a:extLst>
              <a:ext uri="{FF2B5EF4-FFF2-40B4-BE49-F238E27FC236}">
                <a16:creationId xmlns:a16="http://schemas.microsoft.com/office/drawing/2014/main" id="{58281785-85D5-CEB5-2F8D-EB149236D04D}"/>
              </a:ext>
            </a:extLst>
          </p:cNvPr>
          <p:cNvSpPr txBox="1"/>
          <p:nvPr/>
        </p:nvSpPr>
        <p:spPr>
          <a:xfrm>
            <a:off x="4854121" y="4601252"/>
            <a:ext cx="4303486" cy="3423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2300" b="1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PR 리뷰 · 명세 합의 · 11주차 통합</a:t>
            </a:r>
            <a:r>
              <a:rPr lang="ko-KR" altLang="en-US" sz="2300" b="1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en-US" altLang="ko-KR" sz="2300" b="1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ko-KR" altLang="en-US" sz="2300" b="1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en-US" altLang="ko-KR" sz="2300" b="1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  <a:r>
              <a:rPr lang="ko-KR" altLang="en-US" sz="2300" b="1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/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94BF9D-3729-00E2-6054-621D8BDE741C}"/>
              </a:ext>
            </a:extLst>
          </p:cNvPr>
          <p:cNvSpPr txBox="1"/>
          <p:nvPr/>
        </p:nvSpPr>
        <p:spPr>
          <a:xfrm>
            <a:off x="4906297" y="5002059"/>
            <a:ext cx="4188250" cy="43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수정 없이 결합되는 인터페이스 경험</a:t>
            </a:r>
          </a:p>
        </p:txBody>
      </p:sp>
      <p:sp>
        <p:nvSpPr>
          <p:cNvPr id="75" name="TextBox 25">
            <a:extLst>
              <a:ext uri="{FF2B5EF4-FFF2-40B4-BE49-F238E27FC236}">
                <a16:creationId xmlns:a16="http://schemas.microsoft.com/office/drawing/2014/main" id="{1CEB2899-79CD-686C-8402-AC1C79B6AC00}"/>
              </a:ext>
            </a:extLst>
          </p:cNvPr>
          <p:cNvSpPr txBox="1"/>
          <p:nvPr/>
        </p:nvSpPr>
        <p:spPr>
          <a:xfrm>
            <a:off x="9367655" y="4601252"/>
            <a:ext cx="3799992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3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데이터 제약에서 설계 근거 도출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4FA17B1-1CD7-C31B-33F3-E37930665738}"/>
              </a:ext>
            </a:extLst>
          </p:cNvPr>
          <p:cNvSpPr txBox="1"/>
          <p:nvPr/>
        </p:nvSpPr>
        <p:spPr>
          <a:xfrm>
            <a:off x="9296400" y="5002059"/>
            <a:ext cx="4000500" cy="43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1인 제안서 등 범위 결정 설명</a:t>
            </a:r>
            <a:r>
              <a:rPr lang="en-US" altLang="ko-KR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en-US" altLang="ko-KR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</a:p>
        </p:txBody>
      </p:sp>
      <p:sp>
        <p:nvSpPr>
          <p:cNvPr id="80" name="TextBox 25">
            <a:extLst>
              <a:ext uri="{FF2B5EF4-FFF2-40B4-BE49-F238E27FC236}">
                <a16:creationId xmlns:a16="http://schemas.microsoft.com/office/drawing/2014/main" id="{45970472-0546-2950-5A5B-87B935A3C1F2}"/>
              </a:ext>
            </a:extLst>
          </p:cNvPr>
          <p:cNvSpPr txBox="1"/>
          <p:nvPr/>
        </p:nvSpPr>
        <p:spPr>
          <a:xfrm>
            <a:off x="13776633" y="4601252"/>
            <a:ext cx="3539642" cy="3423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300" b="1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스프린트·Jira·주간보고·서버 운영</a:t>
            </a:r>
            <a:r>
              <a:rPr lang="en-US" altLang="ko-KR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en-US" altLang="ko-KR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lang="ko-KR" altLang="en-US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5DADF7D-2E9B-96FB-E199-59EC98D9C6E4}"/>
              </a:ext>
            </a:extLst>
          </p:cNvPr>
          <p:cNvSpPr txBox="1"/>
          <p:nvPr/>
        </p:nvSpPr>
        <p:spPr>
          <a:xfrm>
            <a:off x="13739586" y="5002059"/>
            <a:ext cx="3733800" cy="43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12주차 개발 완료 · 기한 내 제출</a:t>
            </a: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F23BBF6B-C817-5553-B1CC-9C92906FDEBC}"/>
              </a:ext>
            </a:extLst>
          </p:cNvPr>
          <p:cNvSpPr txBox="1"/>
          <p:nvPr/>
        </p:nvSpPr>
        <p:spPr>
          <a:xfrm>
            <a:off x="4118760" y="3684978"/>
            <a:ext cx="5125026" cy="71845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endParaRPr lang="ko-KR" altLang="en-US" sz="3200" spc="-100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ED165C9-97EA-5493-DF6F-EFADDA34C1B4}"/>
              </a:ext>
            </a:extLst>
          </p:cNvPr>
          <p:cNvGrpSpPr/>
          <p:nvPr/>
        </p:nvGrpSpPr>
        <p:grpSpPr>
          <a:xfrm>
            <a:off x="1447800" y="3532578"/>
            <a:ext cx="2293885" cy="718454"/>
            <a:chOff x="14254995" y="3306058"/>
            <a:chExt cx="1615973" cy="538517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60490232-214F-18EE-2384-4630F866406C}"/>
                </a:ext>
              </a:extLst>
            </p:cNvPr>
            <p:cNvSpPr/>
            <p:nvPr/>
          </p:nvSpPr>
          <p:spPr>
            <a:xfrm>
              <a:off x="14701033" y="3306058"/>
              <a:ext cx="762000" cy="538517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5" name="TextBox 21">
              <a:extLst>
                <a:ext uri="{FF2B5EF4-FFF2-40B4-BE49-F238E27FC236}">
                  <a16:creationId xmlns:a16="http://schemas.microsoft.com/office/drawing/2014/main" id="{983C78E8-844F-9B0A-2066-50D6422681A8}"/>
                </a:ext>
              </a:extLst>
            </p:cNvPr>
            <p:cNvSpPr txBox="1"/>
            <p:nvPr/>
          </p:nvSpPr>
          <p:spPr>
            <a:xfrm>
              <a:off x="14254995" y="330605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3200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기술</a:t>
              </a:r>
              <a:endParaRPr lang="en-US" altLang="ko-KR" sz="3200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6B0CF63-209E-EBE3-1E0A-87E3A3C062D3}"/>
              </a:ext>
            </a:extLst>
          </p:cNvPr>
          <p:cNvGrpSpPr/>
          <p:nvPr/>
        </p:nvGrpSpPr>
        <p:grpSpPr>
          <a:xfrm>
            <a:off x="5859515" y="3532578"/>
            <a:ext cx="2293885" cy="718454"/>
            <a:chOff x="14254995" y="3306058"/>
            <a:chExt cx="1615973" cy="538517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A3AF900-1069-7554-9BF8-B49341BC7984}"/>
                </a:ext>
              </a:extLst>
            </p:cNvPr>
            <p:cNvSpPr/>
            <p:nvPr/>
          </p:nvSpPr>
          <p:spPr>
            <a:xfrm>
              <a:off x="14701033" y="3306058"/>
              <a:ext cx="762000" cy="538517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9" name="TextBox 21">
              <a:extLst>
                <a:ext uri="{FF2B5EF4-FFF2-40B4-BE49-F238E27FC236}">
                  <a16:creationId xmlns:a16="http://schemas.microsoft.com/office/drawing/2014/main" id="{54464D48-CE31-F332-0C64-78DDB8CF3660}"/>
                </a:ext>
              </a:extLst>
            </p:cNvPr>
            <p:cNvSpPr txBox="1"/>
            <p:nvPr/>
          </p:nvSpPr>
          <p:spPr>
            <a:xfrm>
              <a:off x="14254995" y="330605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3200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협업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7D7521C-F3DB-E152-3219-456B2B048138}"/>
              </a:ext>
            </a:extLst>
          </p:cNvPr>
          <p:cNvGrpSpPr/>
          <p:nvPr/>
        </p:nvGrpSpPr>
        <p:grpSpPr>
          <a:xfrm>
            <a:off x="10109201" y="3532578"/>
            <a:ext cx="2293885" cy="718454"/>
            <a:chOff x="14254995" y="3306058"/>
            <a:chExt cx="1615973" cy="53851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C501955-7440-FDD7-19F0-2CBDA9965A8E}"/>
                </a:ext>
              </a:extLst>
            </p:cNvPr>
            <p:cNvSpPr/>
            <p:nvPr/>
          </p:nvSpPr>
          <p:spPr>
            <a:xfrm>
              <a:off x="14701033" y="3306058"/>
              <a:ext cx="762000" cy="538517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23" name="TextBox 21">
              <a:extLst>
                <a:ext uri="{FF2B5EF4-FFF2-40B4-BE49-F238E27FC236}">
                  <a16:creationId xmlns:a16="http://schemas.microsoft.com/office/drawing/2014/main" id="{FF4A7555-5A1B-95A3-030A-2B16C337D913}"/>
                </a:ext>
              </a:extLst>
            </p:cNvPr>
            <p:cNvSpPr txBox="1"/>
            <p:nvPr/>
          </p:nvSpPr>
          <p:spPr>
            <a:xfrm>
              <a:off x="14254995" y="330605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3200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기획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B565F92-7B50-5A77-BF1A-A63DDBA4F9BD}"/>
              </a:ext>
            </a:extLst>
          </p:cNvPr>
          <p:cNvGrpSpPr/>
          <p:nvPr/>
        </p:nvGrpSpPr>
        <p:grpSpPr>
          <a:xfrm>
            <a:off x="14406337" y="3572994"/>
            <a:ext cx="2293885" cy="718454"/>
            <a:chOff x="14254995" y="3306058"/>
            <a:chExt cx="1615973" cy="538517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CC00D344-CFB9-88AE-89DE-F25F963F16A5}"/>
                </a:ext>
              </a:extLst>
            </p:cNvPr>
            <p:cNvSpPr/>
            <p:nvPr/>
          </p:nvSpPr>
          <p:spPr>
            <a:xfrm>
              <a:off x="14701033" y="3306058"/>
              <a:ext cx="762000" cy="538517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28" name="TextBox 21">
              <a:extLst>
                <a:ext uri="{FF2B5EF4-FFF2-40B4-BE49-F238E27FC236}">
                  <a16:creationId xmlns:a16="http://schemas.microsoft.com/office/drawing/2014/main" id="{0C62B117-9644-1393-B222-016E3DF47C4E}"/>
                </a:ext>
              </a:extLst>
            </p:cNvPr>
            <p:cNvSpPr txBox="1"/>
            <p:nvPr/>
          </p:nvSpPr>
          <p:spPr>
            <a:xfrm>
              <a:off x="14254995" y="330605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3200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운영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27963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8100" y="-2260600"/>
            <a:ext cx="18326100" cy="11264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52600" y="7645400"/>
            <a:ext cx="8470900" cy="1358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165350" y="3619500"/>
            <a:ext cx="13919200" cy="1231900"/>
          </a:xfrm>
          <a:prstGeom prst="rect">
            <a:avLst/>
          </a:prstGeom>
        </p:spPr>
        <p:txBody>
          <a:bodyPr lIns="0" tIns="86358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6798" b="0" i="0" u="none" strike="noStrike" spc="-3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감사합니다</a:t>
            </a:r>
            <a:endParaRPr lang="en-US" sz="6798" b="0" i="0" u="none" strike="noStrike" spc="-3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B86E9C0-C14B-2A08-2561-F2D665D5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>
            <a:extLst>
              <a:ext uri="{FF2B5EF4-FFF2-40B4-BE49-F238E27FC236}">
                <a16:creationId xmlns:a16="http://schemas.microsoft.com/office/drawing/2014/main" id="{E1BC13C5-81A0-578C-DEB9-9D9E7C0EB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B277BE12-853C-DA4D-C5CF-EB5688CB673A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6.2 개발 방법론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496E1E-A839-6AAA-E8BF-72E00D94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024" name="Rounded Rectangle 5023"/>
          <p:cNvSpPr/>
          <p:nvPr/>
        </p:nvSpPr>
        <p:spPr>
          <a:xfrm>
            <a:off x="822960" y="2432304"/>
            <a:ext cx="9692640" cy="2395728"/>
          </a:xfrm>
          <a:prstGeom prst="roundRect">
            <a:avLst>
              <a:gd name="adj" fmla="val 458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ko-KR"/>
          </a:p>
        </p:txBody>
      </p:sp>
      <p:sp>
        <p:nvSpPr>
          <p:cNvPr id="5025" name="TextBox 5024"/>
          <p:cNvSpPr txBox="1"/>
          <p:nvPr/>
        </p:nvSpPr>
        <p:spPr>
          <a:xfrm>
            <a:off x="1097280" y="2560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방법론 적용 구조</a:t>
            </a:r>
            <a:endParaRPr lang="ko-KR" altLang="en-US" sz="1650"/>
          </a:p>
        </p:txBody>
      </p:sp>
      <p:sp>
        <p:nvSpPr>
          <p:cNvPr id="5026" name="Rounded Rectangle 5025"/>
          <p:cNvSpPr/>
          <p:nvPr/>
        </p:nvSpPr>
        <p:spPr>
          <a:xfrm>
            <a:off x="1097280" y="303580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4A4F63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문서 절차</a:t>
            </a:r>
            <a:endParaRPr lang="ko-KR" altLang="en-US" sz="1250"/>
          </a:p>
        </p:txBody>
      </p:sp>
      <p:sp>
        <p:nvSpPr>
          <p:cNvPr id="5027" name="TextBox 5026"/>
          <p:cNvSpPr txBox="1"/>
          <p:nvPr/>
        </p:nvSpPr>
        <p:spPr>
          <a:xfrm>
            <a:off x="2560320" y="30632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00" b="1" dirty="0">
                <a:solidFill>
                  <a:srgbClr val="4A4F63"/>
                </a:solidFill>
                <a:latin typeface="210 OmniGothic 040"/>
                <a:ea typeface="210 OmniGothic 040"/>
              </a:rPr>
              <a:t>CBD</a:t>
            </a:r>
            <a:endParaRPr lang="ko-KR" altLang="en-US" sz="1500"/>
          </a:p>
        </p:txBody>
      </p:sp>
      <p:sp>
        <p:nvSpPr>
          <p:cNvPr id="5028" name="TextBox 5027"/>
          <p:cNvSpPr txBox="1"/>
          <p:nvPr/>
        </p:nvSpPr>
        <p:spPr>
          <a:xfrm>
            <a:off x="3977640" y="308152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계획 → 요구 분석 → 프로토타입 → 구현 → 검증 (수업 산출물 기준)</a:t>
            </a:r>
            <a:endParaRPr lang="ko-KR" altLang="en-US" sz="1350"/>
          </a:p>
        </p:txBody>
      </p:sp>
      <p:sp>
        <p:nvSpPr>
          <p:cNvPr id="5029" name="Rounded Rectangle 5028"/>
          <p:cNvSpPr/>
          <p:nvPr/>
        </p:nvSpPr>
        <p:spPr>
          <a:xfrm>
            <a:off x="1097280" y="3602736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C0602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운영 방식</a:t>
            </a:r>
            <a:endParaRPr lang="ko-KR" altLang="en-US" sz="1250"/>
          </a:p>
        </p:txBody>
      </p:sp>
      <p:sp>
        <p:nvSpPr>
          <p:cNvPr id="5030" name="TextBox 5029"/>
          <p:cNvSpPr txBox="1"/>
          <p:nvPr/>
        </p:nvSpPr>
        <p:spPr>
          <a:xfrm>
            <a:off x="2560320" y="363016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애자일</a:t>
            </a:r>
            <a:endParaRPr lang="ko-KR" altLang="en-US" sz="1500"/>
          </a:p>
        </p:txBody>
      </p:sp>
      <p:sp>
        <p:nvSpPr>
          <p:cNvPr id="5031" name="TextBox 5030"/>
          <p:cNvSpPr txBox="1"/>
          <p:nvPr/>
        </p:nvSpPr>
        <p:spPr>
          <a:xfrm>
            <a:off x="3977640" y="36484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1주 스프린트 · 제품 백로그 · 주간 회의 · 주간 개발 보고서 = 스프린트 리뷰</a:t>
            </a:r>
            <a:endParaRPr lang="ko-KR" altLang="en-US" sz="1350"/>
          </a:p>
        </p:txBody>
      </p:sp>
      <p:sp>
        <p:nvSpPr>
          <p:cNvPr id="5032" name="Rounded Rectangle 5031"/>
          <p:cNvSpPr/>
          <p:nvPr/>
        </p:nvSpPr>
        <p:spPr>
          <a:xfrm>
            <a:off x="1097280" y="4169664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요구 검증</a:t>
            </a:r>
            <a:endParaRPr lang="ko-KR" altLang="en-US" sz="1250"/>
          </a:p>
        </p:txBody>
      </p:sp>
      <p:sp>
        <p:nvSpPr>
          <p:cNvPr id="5033" name="TextBox 5032"/>
          <p:cNvSpPr txBox="1"/>
          <p:nvPr/>
        </p:nvSpPr>
        <p:spPr>
          <a:xfrm>
            <a:off x="2560320" y="419709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프로토타입</a:t>
            </a:r>
            <a:endParaRPr lang="ko-KR" altLang="en-US" sz="1500"/>
          </a:p>
        </p:txBody>
      </p:sp>
      <p:sp>
        <p:nvSpPr>
          <p:cNvPr id="5034" name="TextBox 5033"/>
          <p:cNvSpPr txBox="1"/>
          <p:nvPr/>
        </p:nvSpPr>
        <p:spPr>
          <a:xfrm>
            <a:off x="3977640" y="421538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만들고 → 보여 주고 → 고치는 반복으로 요구사항을 화면에서 구체화</a:t>
            </a:r>
            <a:endParaRPr lang="ko-KR" altLang="en-US" sz="1350"/>
          </a:p>
        </p:txBody>
      </p:sp>
      <p:sp>
        <p:nvSpPr>
          <p:cNvPr id="5035" name="Rounded Rectangle 5034"/>
          <p:cNvSpPr/>
          <p:nvPr/>
        </p:nvSpPr>
        <p:spPr>
          <a:xfrm>
            <a:off x="10698480" y="2432304"/>
            <a:ext cx="6766560" cy="2395728"/>
          </a:xfrm>
          <a:prstGeom prst="roundRect">
            <a:avLst>
              <a:gd name="adj" fmla="val 4580"/>
            </a:avLst>
          </a:prstGeom>
          <a:solidFill>
            <a:srgbClr val="363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6" name="TextBox 5035"/>
          <p:cNvSpPr txBox="1"/>
          <p:nvPr/>
        </p:nvSpPr>
        <p:spPr>
          <a:xfrm>
            <a:off x="10972800" y="25603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왜 애자일인가</a:t>
            </a:r>
            <a:endParaRPr lang="ko-KR" altLang="en-US" sz="1650"/>
          </a:p>
        </p:txBody>
      </p:sp>
      <p:sp>
        <p:nvSpPr>
          <p:cNvPr id="5037" name="TextBox 5036"/>
          <p:cNvSpPr txBox="1"/>
          <p:nvPr/>
        </p:nvSpPr>
        <p:spPr>
          <a:xfrm>
            <a:off x="10972800" y="3017520"/>
            <a:ext cx="6263640" cy="1737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350" b="0" dirty="0">
                <a:solidFill>
                  <a:srgbClr val="E6E9F1"/>
                </a:solidFill>
                <a:latin typeface="210 OmniGothic 030"/>
                <a:ea typeface="210 OmniGothic 030"/>
                <a:cs typeface="210 OmniGothic 030"/>
              </a:rPr>
              <a:t>AI 성능(IoU·RAGAS)은 실험 전 알 수 없음 → 매주 측정하고 하한·파라미터 조정</a:t>
            </a:r>
            <a:endParaRPr lang="ko-KR" altLang="en-US" sz="1350"/>
          </a:p>
          <a:p>
            <a:pPr marL="201168" indent="-201168" algn="l" latinLnBrk="0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350" b="0" dirty="0">
                <a:solidFill>
                  <a:srgbClr val="E6E9F1"/>
                </a:solidFill>
                <a:latin typeface="210 OmniGothic 030"/>
                <a:ea typeface="210 OmniGothic 030"/>
                <a:cs typeface="210 OmniGothic 030"/>
              </a:rPr>
              <a:t>확산·규칙·RAG·대시보드 4개 모듈 병렬 개발 → 주 단위 통합으로 조기 확인</a:t>
            </a:r>
            <a:endParaRPr lang="ko-KR" altLang="en-US" sz="1350"/>
          </a:p>
          <a:p>
            <a:pPr marL="201168" indent="-201168" algn="l" latinLnBrk="0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350" b="0" dirty="0">
                <a:solidFill>
                  <a:srgbClr val="E6E9F1"/>
                </a:solidFill>
                <a:latin typeface="210 OmniGothic 030"/>
                <a:ea typeface="210 OmniGothic 030"/>
                <a:cs typeface="210 OmniGothic 030"/>
              </a:rPr>
              <a:t>교수·산림청·팀 회의 피드백을 다음 스프린트 백로그로 바로 반영</a:t>
            </a:r>
            <a:endParaRPr lang="ko-KR" altLang="en-US" sz="1350"/>
          </a:p>
        </p:txBody>
      </p:sp>
      <p:sp>
        <p:nvSpPr>
          <p:cNvPr id="5038" name="TextBox 5037"/>
          <p:cNvSpPr txBox="1"/>
          <p:nvPr/>
        </p:nvSpPr>
        <p:spPr>
          <a:xfrm>
            <a:off x="822960" y="50109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지금까지의 반복</a:t>
            </a:r>
            <a:r>
              <a:rPr lang="ko-KR" altLang="en-US" sz="16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  프로토타입 단계 · 6회 (9/26 ~ 10/13)</a:t>
            </a:r>
            <a:endParaRPr lang="ko-KR" altLang="en-US" sz="1600"/>
          </a:p>
        </p:txBody>
      </p:sp>
      <p:sp>
        <p:nvSpPr>
          <p:cNvPr id="5039" name="Pentagon 5038"/>
          <p:cNvSpPr/>
          <p:nvPr/>
        </p:nvSpPr>
        <p:spPr>
          <a:xfrm>
            <a:off x="822960" y="5449824"/>
            <a:ext cx="2641092" cy="713232"/>
          </a:xfrm>
          <a:prstGeom prst="homePlate">
            <a:avLst/>
          </a:prstGeom>
          <a:solidFill>
            <a:srgbClr val="FDF1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0" name="TextBox 5039"/>
          <p:cNvSpPr txBox="1"/>
          <p:nvPr/>
        </p:nvSpPr>
        <p:spPr>
          <a:xfrm>
            <a:off x="960120" y="5495544"/>
            <a:ext cx="22753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1차 · 9/26</a:t>
            </a:r>
            <a:endParaRPr lang="ko-KR" altLang="en-US" sz="1200"/>
          </a:p>
        </p:txBody>
      </p:sp>
      <p:sp>
        <p:nvSpPr>
          <p:cNvPr id="5041" name="TextBox 5040"/>
          <p:cNvSpPr txBox="1"/>
          <p:nvPr/>
        </p:nvSpPr>
        <p:spPr>
          <a:xfrm>
            <a:off x="960120" y="5779008"/>
            <a:ext cx="2275332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핵심 기능 화면 초안</a:t>
            </a:r>
            <a:endParaRPr lang="ko-KR" altLang="en-US" sz="1350"/>
          </a:p>
        </p:txBody>
      </p:sp>
      <p:sp>
        <p:nvSpPr>
          <p:cNvPr id="5042" name="Pentagon 5041"/>
          <p:cNvSpPr/>
          <p:nvPr/>
        </p:nvSpPr>
        <p:spPr>
          <a:xfrm>
            <a:off x="3619499" y="5449824"/>
            <a:ext cx="2641092" cy="713232"/>
          </a:xfrm>
          <a:prstGeom prst="homePlate">
            <a:avLst/>
          </a:prstGeom>
          <a:solidFill>
            <a:srgbClr val="FDF1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3" name="TextBox 5042"/>
          <p:cNvSpPr txBox="1"/>
          <p:nvPr/>
        </p:nvSpPr>
        <p:spPr>
          <a:xfrm>
            <a:off x="3756660" y="5495544"/>
            <a:ext cx="22753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2차 · 9/28</a:t>
            </a:r>
            <a:endParaRPr lang="ko-KR" altLang="en-US" sz="1200"/>
          </a:p>
        </p:txBody>
      </p:sp>
      <p:sp>
        <p:nvSpPr>
          <p:cNvPr id="5044" name="TextBox 5043"/>
          <p:cNvSpPr txBox="1"/>
          <p:nvPr/>
        </p:nvSpPr>
        <p:spPr>
          <a:xfrm>
            <a:off x="3756660" y="5779008"/>
            <a:ext cx="2275332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유스케이스 15개·권한 4종</a:t>
            </a:r>
            <a:endParaRPr lang="ko-KR" altLang="en-US" sz="1350"/>
          </a:p>
        </p:txBody>
      </p:sp>
      <p:sp>
        <p:nvSpPr>
          <p:cNvPr id="5045" name="Pentagon 5044"/>
          <p:cNvSpPr/>
          <p:nvPr/>
        </p:nvSpPr>
        <p:spPr>
          <a:xfrm>
            <a:off x="6416040" y="5449824"/>
            <a:ext cx="2641092" cy="713232"/>
          </a:xfrm>
          <a:prstGeom prst="homePlate">
            <a:avLst/>
          </a:prstGeom>
          <a:solidFill>
            <a:srgbClr val="FDF1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6" name="TextBox 5045"/>
          <p:cNvSpPr txBox="1"/>
          <p:nvPr/>
        </p:nvSpPr>
        <p:spPr>
          <a:xfrm>
            <a:off x="6553200" y="5495544"/>
            <a:ext cx="22753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3차 · 10/5</a:t>
            </a:r>
            <a:endParaRPr lang="ko-KR" altLang="en-US" sz="1200"/>
          </a:p>
        </p:txBody>
      </p:sp>
      <p:sp>
        <p:nvSpPr>
          <p:cNvPr id="5047" name="TextBox 5046"/>
          <p:cNvSpPr txBox="1"/>
          <p:nvPr/>
        </p:nvSpPr>
        <p:spPr>
          <a:xfrm>
            <a:off x="6553200" y="5779008"/>
            <a:ext cx="2275332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요구사항분석서와 정합</a:t>
            </a:r>
            <a:endParaRPr lang="ko-KR" altLang="en-US" sz="1350"/>
          </a:p>
        </p:txBody>
      </p:sp>
      <p:sp>
        <p:nvSpPr>
          <p:cNvPr id="5048" name="Pentagon 5047"/>
          <p:cNvSpPr/>
          <p:nvPr/>
        </p:nvSpPr>
        <p:spPr>
          <a:xfrm>
            <a:off x="9212580" y="5449824"/>
            <a:ext cx="2641092" cy="713232"/>
          </a:xfrm>
          <a:prstGeom prst="homePlate">
            <a:avLst/>
          </a:prstGeom>
          <a:solidFill>
            <a:srgbClr val="FDF1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9" name="TextBox 5048"/>
          <p:cNvSpPr txBox="1"/>
          <p:nvPr/>
        </p:nvSpPr>
        <p:spPr>
          <a:xfrm>
            <a:off x="9349740" y="5495544"/>
            <a:ext cx="22753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4차 · 10/8~9</a:t>
            </a:r>
            <a:endParaRPr lang="ko-KR" altLang="en-US" sz="1200"/>
          </a:p>
        </p:txBody>
      </p:sp>
      <p:sp>
        <p:nvSpPr>
          <p:cNvPr id="5050" name="TextBox 5049"/>
          <p:cNvSpPr txBox="1"/>
          <p:nvPr/>
        </p:nvSpPr>
        <p:spPr>
          <a:xfrm>
            <a:off x="9349740" y="5779008"/>
            <a:ext cx="2275332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위험도 재정의·실패 상태</a:t>
            </a:r>
            <a:endParaRPr lang="ko-KR" altLang="en-US" sz="1350"/>
          </a:p>
        </p:txBody>
      </p:sp>
      <p:sp>
        <p:nvSpPr>
          <p:cNvPr id="5051" name="Rounded Rectangle 5050"/>
          <p:cNvSpPr/>
          <p:nvPr/>
        </p:nvSpPr>
        <p:spPr>
          <a:xfrm>
            <a:off x="12009120" y="5449824"/>
            <a:ext cx="2641092" cy="713232"/>
          </a:xfrm>
          <a:prstGeom prst="homePlate">
            <a:avLst/>
          </a:prstGeom>
          <a:solidFill>
            <a:srgbClr val="FDF1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2" name="TextBox 5051"/>
          <p:cNvSpPr txBox="1"/>
          <p:nvPr/>
        </p:nvSpPr>
        <p:spPr>
          <a:xfrm>
            <a:off x="12146280" y="5495544"/>
            <a:ext cx="22753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5차 · 10/11</a:t>
            </a:r>
            <a:endParaRPr lang="ko-KR" altLang="en-US" sz="1200"/>
          </a:p>
        </p:txBody>
      </p:sp>
      <p:sp>
        <p:nvSpPr>
          <p:cNvPr id="5053" name="TextBox 5052"/>
          <p:cNvSpPr txBox="1"/>
          <p:nvPr/>
        </p:nvSpPr>
        <p:spPr>
          <a:xfrm>
            <a:off x="12146280" y="5779008"/>
            <a:ext cx="2275332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팀 회의 정정</a:t>
            </a:r>
            <a:endParaRPr lang="ko-KR" altLang="en-US" sz="1350" dirty="0"/>
          </a:p>
        </p:txBody>
      </p:sp>
      <p:sp>
        <p:nvSpPr>
          <p:cNvPr id="5054" name="TextBox 5053"/>
          <p:cNvSpPr txBox="1"/>
          <p:nvPr/>
        </p:nvSpPr>
        <p:spPr>
          <a:xfrm>
            <a:off x="822960" y="63825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애자일 로드맵</a:t>
            </a:r>
            <a:r>
              <a:rPr lang="ko-KR" altLang="en-US" sz="16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  1주 스프린트 5회(8~12주) · 매주 개발 보고서로 리뷰</a:t>
            </a:r>
            <a:endParaRPr lang="ko-KR" altLang="en-US" sz="1600"/>
          </a:p>
        </p:txBody>
      </p:sp>
      <p:sp>
        <p:nvSpPr>
          <p:cNvPr id="5055" name="Rounded Rectangle 5054"/>
          <p:cNvSpPr/>
          <p:nvPr/>
        </p:nvSpPr>
        <p:spPr>
          <a:xfrm>
            <a:off x="10030968" y="643737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개발 완료 11/20</a:t>
            </a:r>
            <a:endParaRPr lang="ko-KR" altLang="en-US" sz="1150"/>
          </a:p>
        </p:txBody>
      </p:sp>
      <p:sp>
        <p:nvSpPr>
          <p:cNvPr id="5056" name="Rectangle 5055"/>
          <p:cNvSpPr/>
          <p:nvPr/>
        </p:nvSpPr>
        <p:spPr>
          <a:xfrm>
            <a:off x="850392" y="6839712"/>
            <a:ext cx="1609344" cy="457200"/>
          </a:xfrm>
          <a:prstGeom prst="rect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7" name="TextBox 5056"/>
          <p:cNvSpPr txBox="1"/>
          <p:nvPr/>
        </p:nvSpPr>
        <p:spPr>
          <a:xfrm>
            <a:off x="850392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발표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7주</a:t>
            </a:r>
            <a:endParaRPr lang="ko-KR" altLang="en-US" sz="1400"/>
          </a:p>
        </p:txBody>
      </p:sp>
      <p:sp>
        <p:nvSpPr>
          <p:cNvPr id="5058" name="TextBox 5057"/>
          <p:cNvSpPr txBox="1"/>
          <p:nvPr/>
        </p:nvSpPr>
        <p:spPr>
          <a:xfrm>
            <a:off x="896112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10/12 ~</a:t>
            </a:r>
            <a:endParaRPr lang="ko-KR" altLang="en-US" sz="1050"/>
          </a:p>
        </p:txBody>
      </p:sp>
      <p:sp>
        <p:nvSpPr>
          <p:cNvPr id="5059" name="TextBox 5058"/>
          <p:cNvSpPr txBox="1"/>
          <p:nvPr/>
        </p:nvSpPr>
        <p:spPr>
          <a:xfrm>
            <a:off x="896112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프로토타입 발표(10/16)</a:t>
            </a:r>
            <a:endParaRPr lang="ko-KR" altLang="en-US" sz="1150"/>
          </a:p>
        </p:txBody>
      </p:sp>
      <p:sp>
        <p:nvSpPr>
          <p:cNvPr id="5060" name="Rectangle 5059"/>
          <p:cNvSpPr/>
          <p:nvPr/>
        </p:nvSpPr>
        <p:spPr>
          <a:xfrm>
            <a:off x="2514600" y="6839712"/>
            <a:ext cx="1609344" cy="457200"/>
          </a:xfrm>
          <a:prstGeom prst="rect">
            <a:avLst/>
          </a:prstGeom>
          <a:solidFill>
            <a:srgbClr val="6D72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61" name="TextBox 5060"/>
          <p:cNvSpPr txBox="1"/>
          <p:nvPr/>
        </p:nvSpPr>
        <p:spPr>
          <a:xfrm>
            <a:off x="2514600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SP1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8주</a:t>
            </a:r>
            <a:endParaRPr lang="ko-KR" altLang="en-US" sz="1400"/>
          </a:p>
        </p:txBody>
      </p:sp>
      <p:sp>
        <p:nvSpPr>
          <p:cNvPr id="5062" name="TextBox 5061"/>
          <p:cNvSpPr txBox="1"/>
          <p:nvPr/>
        </p:nvSpPr>
        <p:spPr>
          <a:xfrm>
            <a:off x="2560320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10/19 ~</a:t>
            </a:r>
            <a:endParaRPr lang="ko-KR" altLang="en-US" sz="1050"/>
          </a:p>
        </p:txBody>
      </p:sp>
      <p:sp>
        <p:nvSpPr>
          <p:cNvPr id="5063" name="TextBox 5062"/>
          <p:cNvSpPr txBox="1"/>
          <p:nvPr/>
        </p:nvSpPr>
        <p:spPr>
          <a:xfrm>
            <a:off x="2560320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수정 프로토타입(10/22)·격자·DB 스키마·근거 코퍼스</a:t>
            </a:r>
            <a:endParaRPr lang="ko-KR" altLang="en-US" sz="1150"/>
          </a:p>
        </p:txBody>
      </p:sp>
      <p:sp>
        <p:nvSpPr>
          <p:cNvPr id="5064" name="Rectangle 5063"/>
          <p:cNvSpPr/>
          <p:nvPr/>
        </p:nvSpPr>
        <p:spPr>
          <a:xfrm>
            <a:off x="4178808" y="6839712"/>
            <a:ext cx="1609344" cy="457200"/>
          </a:xfrm>
          <a:prstGeom prst="rect">
            <a:avLst/>
          </a:prstGeom>
          <a:solidFill>
            <a:srgbClr val="6D72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65" name="TextBox 5064"/>
          <p:cNvSpPr txBox="1"/>
          <p:nvPr/>
        </p:nvSpPr>
        <p:spPr>
          <a:xfrm>
            <a:off x="4178808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SP2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9주</a:t>
            </a:r>
            <a:endParaRPr lang="ko-KR" altLang="en-US" sz="1400"/>
          </a:p>
        </p:txBody>
      </p:sp>
      <p:sp>
        <p:nvSpPr>
          <p:cNvPr id="5066" name="TextBox 5065"/>
          <p:cNvSpPr txBox="1"/>
          <p:nvPr/>
        </p:nvSpPr>
        <p:spPr>
          <a:xfrm>
            <a:off x="4224528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10/26 ~</a:t>
            </a:r>
            <a:endParaRPr lang="ko-KR" altLang="en-US" sz="1050"/>
          </a:p>
        </p:txBody>
      </p:sp>
      <p:sp>
        <p:nvSpPr>
          <p:cNvPr id="5067" name="TextBox 5066"/>
          <p:cNvSpPr txBox="1"/>
          <p:nvPr/>
        </p:nvSpPr>
        <p:spPr>
          <a:xfrm>
            <a:off x="4224528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ELMFIRE 환경·근거 색인·규칙 엔진</a:t>
            </a:r>
            <a:endParaRPr lang="ko-KR" altLang="en-US" sz="1150"/>
          </a:p>
        </p:txBody>
      </p:sp>
      <p:sp>
        <p:nvSpPr>
          <p:cNvPr id="5068" name="Rectangle 5067"/>
          <p:cNvSpPr/>
          <p:nvPr/>
        </p:nvSpPr>
        <p:spPr>
          <a:xfrm>
            <a:off x="5843016" y="6839712"/>
            <a:ext cx="1609344" cy="457200"/>
          </a:xfrm>
          <a:prstGeom prst="rect">
            <a:avLst/>
          </a:prstGeom>
          <a:solidFill>
            <a:srgbClr val="6D72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69" name="TextBox 5068"/>
          <p:cNvSpPr txBox="1"/>
          <p:nvPr/>
        </p:nvSpPr>
        <p:spPr>
          <a:xfrm>
            <a:off x="5843016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SP3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10주</a:t>
            </a:r>
            <a:endParaRPr lang="ko-KR" altLang="en-US" sz="1400"/>
          </a:p>
        </p:txBody>
      </p:sp>
      <p:sp>
        <p:nvSpPr>
          <p:cNvPr id="5070" name="TextBox 5069"/>
          <p:cNvSpPr txBox="1"/>
          <p:nvPr/>
        </p:nvSpPr>
        <p:spPr>
          <a:xfrm>
            <a:off x="5888736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11/2 ~</a:t>
            </a:r>
            <a:endParaRPr lang="ko-KR" altLang="en-US" sz="1050"/>
          </a:p>
        </p:txBody>
      </p:sp>
      <p:sp>
        <p:nvSpPr>
          <p:cNvPr id="5071" name="TextBox 5070"/>
          <p:cNvSpPr txBox="1"/>
          <p:nvPr/>
        </p:nvSpPr>
        <p:spPr>
          <a:xfrm>
            <a:off x="5888736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위험도 계산·EXAONE 서빙·FastAPI 서버</a:t>
            </a:r>
            <a:endParaRPr lang="ko-KR" altLang="en-US" sz="1150"/>
          </a:p>
        </p:txBody>
      </p:sp>
      <p:sp>
        <p:nvSpPr>
          <p:cNvPr id="5072" name="Rectangle 5071"/>
          <p:cNvSpPr/>
          <p:nvPr/>
        </p:nvSpPr>
        <p:spPr>
          <a:xfrm>
            <a:off x="7507224" y="6839712"/>
            <a:ext cx="1609344" cy="457200"/>
          </a:xfrm>
          <a:prstGeom prst="rect">
            <a:avLst/>
          </a:prstGeom>
          <a:solidFill>
            <a:srgbClr val="6D72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73" name="TextBox 5072"/>
          <p:cNvSpPr txBox="1"/>
          <p:nvPr/>
        </p:nvSpPr>
        <p:spPr>
          <a:xfrm>
            <a:off x="7507224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SP4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11주</a:t>
            </a:r>
            <a:endParaRPr lang="ko-KR" altLang="en-US" sz="1400"/>
          </a:p>
        </p:txBody>
      </p:sp>
      <p:sp>
        <p:nvSpPr>
          <p:cNvPr id="5074" name="TextBox 5073"/>
          <p:cNvSpPr txBox="1"/>
          <p:nvPr/>
        </p:nvSpPr>
        <p:spPr>
          <a:xfrm>
            <a:off x="7552944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11/9 ~</a:t>
            </a:r>
            <a:endParaRPr lang="ko-KR" altLang="en-US" sz="1050"/>
          </a:p>
        </p:txBody>
      </p:sp>
      <p:sp>
        <p:nvSpPr>
          <p:cNvPr id="5075" name="TextBox 5074"/>
          <p:cNvSpPr txBox="1"/>
          <p:nvPr/>
        </p:nvSpPr>
        <p:spPr>
          <a:xfrm>
            <a:off x="7552944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모듈 1차 통합·제안 생성 파이프라인·확산 보정</a:t>
            </a:r>
            <a:endParaRPr lang="ko-KR" altLang="en-US" sz="1150"/>
          </a:p>
        </p:txBody>
      </p:sp>
      <p:sp>
        <p:nvSpPr>
          <p:cNvPr id="5076" name="Rectangle 5075"/>
          <p:cNvSpPr/>
          <p:nvPr/>
        </p:nvSpPr>
        <p:spPr>
          <a:xfrm>
            <a:off x="9171432" y="6839712"/>
            <a:ext cx="1609344" cy="457200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77" name="TextBox 5076"/>
          <p:cNvSpPr txBox="1"/>
          <p:nvPr/>
        </p:nvSpPr>
        <p:spPr>
          <a:xfrm>
            <a:off x="9171432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SP5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12주</a:t>
            </a:r>
            <a:endParaRPr lang="ko-KR" altLang="en-US" sz="1400"/>
          </a:p>
        </p:txBody>
      </p:sp>
      <p:sp>
        <p:nvSpPr>
          <p:cNvPr id="5078" name="TextBox 5077"/>
          <p:cNvSpPr txBox="1"/>
          <p:nvPr/>
        </p:nvSpPr>
        <p:spPr>
          <a:xfrm>
            <a:off x="9217152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11/16 ~</a:t>
            </a:r>
            <a:endParaRPr lang="ko-KR" altLang="en-US" sz="1050"/>
          </a:p>
        </p:txBody>
      </p:sp>
      <p:sp>
        <p:nvSpPr>
          <p:cNvPr id="5079" name="TextBox 5078"/>
          <p:cNvSpPr txBox="1"/>
          <p:nvPr/>
        </p:nvSpPr>
        <p:spPr>
          <a:xfrm>
            <a:off x="9217152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평가·Ablation 실험·최종 통합 → 개발 완료</a:t>
            </a:r>
            <a:endParaRPr lang="ko-KR" altLang="en-US" sz="1150"/>
          </a:p>
        </p:txBody>
      </p:sp>
      <p:sp>
        <p:nvSpPr>
          <p:cNvPr id="5080" name="Rectangle 5079"/>
          <p:cNvSpPr/>
          <p:nvPr/>
        </p:nvSpPr>
        <p:spPr>
          <a:xfrm>
            <a:off x="10835640" y="6839712"/>
            <a:ext cx="1609344" cy="457200"/>
          </a:xfrm>
          <a:prstGeom prst="rect">
            <a:avLst/>
          </a:prstGeom>
          <a:solidFill>
            <a:srgbClr val="C0602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81" name="TextBox 5080"/>
          <p:cNvSpPr txBox="1"/>
          <p:nvPr/>
        </p:nvSpPr>
        <p:spPr>
          <a:xfrm>
            <a:off x="10835640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준비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13주</a:t>
            </a:r>
            <a:endParaRPr lang="ko-KR" altLang="en-US" sz="1400"/>
          </a:p>
        </p:txBody>
      </p:sp>
      <p:sp>
        <p:nvSpPr>
          <p:cNvPr id="5082" name="TextBox 5081"/>
          <p:cNvSpPr txBox="1"/>
          <p:nvPr/>
        </p:nvSpPr>
        <p:spPr>
          <a:xfrm>
            <a:off x="10881360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11/23 ~</a:t>
            </a:r>
            <a:endParaRPr lang="ko-KR" altLang="en-US" sz="1050"/>
          </a:p>
        </p:txBody>
      </p:sp>
      <p:sp>
        <p:nvSpPr>
          <p:cNvPr id="5083" name="TextBox 5082"/>
          <p:cNvSpPr txBox="1"/>
          <p:nvPr/>
        </p:nvSpPr>
        <p:spPr>
          <a:xfrm>
            <a:off x="10881360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경진대회 준비(발표 자료·시연) — 개발 없음</a:t>
            </a:r>
            <a:endParaRPr lang="ko-KR" altLang="en-US" sz="1150"/>
          </a:p>
        </p:txBody>
      </p:sp>
      <p:sp>
        <p:nvSpPr>
          <p:cNvPr id="5084" name="Rectangle 5083"/>
          <p:cNvSpPr/>
          <p:nvPr/>
        </p:nvSpPr>
        <p:spPr>
          <a:xfrm>
            <a:off x="12499848" y="6839712"/>
            <a:ext cx="1609344" cy="457200"/>
          </a:xfrm>
          <a:prstGeom prst="rect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85" name="TextBox 5084"/>
          <p:cNvSpPr txBox="1"/>
          <p:nvPr/>
        </p:nvSpPr>
        <p:spPr>
          <a:xfrm>
            <a:off x="12499848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대회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14주</a:t>
            </a:r>
            <a:endParaRPr lang="ko-KR" altLang="en-US" sz="1400"/>
          </a:p>
        </p:txBody>
      </p:sp>
      <p:sp>
        <p:nvSpPr>
          <p:cNvPr id="5086" name="TextBox 5085"/>
          <p:cNvSpPr txBox="1"/>
          <p:nvPr/>
        </p:nvSpPr>
        <p:spPr>
          <a:xfrm>
            <a:off x="12545568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11/30 ~</a:t>
            </a:r>
            <a:endParaRPr lang="ko-KR" altLang="en-US" sz="1050"/>
          </a:p>
        </p:txBody>
      </p:sp>
      <p:sp>
        <p:nvSpPr>
          <p:cNvPr id="5087" name="TextBox 5086"/>
          <p:cNvSpPr txBox="1"/>
          <p:nvPr/>
        </p:nvSpPr>
        <p:spPr>
          <a:xfrm>
            <a:off x="12545568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창의설계 경진대회(12/4)</a:t>
            </a:r>
            <a:endParaRPr lang="ko-KR" altLang="en-US" sz="1150"/>
          </a:p>
        </p:txBody>
      </p:sp>
      <p:sp>
        <p:nvSpPr>
          <p:cNvPr id="5088" name="Rectangle 5087"/>
          <p:cNvSpPr/>
          <p:nvPr/>
        </p:nvSpPr>
        <p:spPr>
          <a:xfrm>
            <a:off x="14164056" y="6839712"/>
            <a:ext cx="1609344" cy="457200"/>
          </a:xfrm>
          <a:prstGeom prst="rect">
            <a:avLst/>
          </a:prstGeom>
          <a:solidFill>
            <a:srgbClr val="9AA0B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89" name="TextBox 5088"/>
          <p:cNvSpPr txBox="1"/>
          <p:nvPr/>
        </p:nvSpPr>
        <p:spPr>
          <a:xfrm>
            <a:off x="14164056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보완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15주</a:t>
            </a:r>
            <a:endParaRPr lang="ko-KR" altLang="en-US" sz="1400"/>
          </a:p>
        </p:txBody>
      </p:sp>
      <p:sp>
        <p:nvSpPr>
          <p:cNvPr id="5090" name="TextBox 5089"/>
          <p:cNvSpPr txBox="1"/>
          <p:nvPr/>
        </p:nvSpPr>
        <p:spPr>
          <a:xfrm>
            <a:off x="14209776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12/7 ~</a:t>
            </a:r>
            <a:endParaRPr lang="ko-KR" altLang="en-US" sz="1050"/>
          </a:p>
        </p:txBody>
      </p:sp>
      <p:sp>
        <p:nvSpPr>
          <p:cNvPr id="5091" name="TextBox 5090"/>
          <p:cNvSpPr txBox="1"/>
          <p:nvPr/>
        </p:nvSpPr>
        <p:spPr>
          <a:xfrm>
            <a:off x="14209776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문제점 보완·SW 등록(지재권)</a:t>
            </a:r>
            <a:endParaRPr lang="ko-KR" altLang="en-US" sz="1150"/>
          </a:p>
        </p:txBody>
      </p:sp>
      <p:sp>
        <p:nvSpPr>
          <p:cNvPr id="5092" name="Rectangle 5091"/>
          <p:cNvSpPr/>
          <p:nvPr/>
        </p:nvSpPr>
        <p:spPr>
          <a:xfrm>
            <a:off x="15828264" y="6839712"/>
            <a:ext cx="1609344" cy="457200"/>
          </a:xfrm>
          <a:prstGeom prst="rect">
            <a:avLst/>
          </a:prstGeom>
          <a:solidFill>
            <a:srgbClr val="9AA0B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93" name="TextBox 5092"/>
          <p:cNvSpPr txBox="1"/>
          <p:nvPr/>
        </p:nvSpPr>
        <p:spPr>
          <a:xfrm>
            <a:off x="15828264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최종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16주</a:t>
            </a:r>
            <a:endParaRPr lang="ko-KR" altLang="en-US" sz="1400"/>
          </a:p>
        </p:txBody>
      </p:sp>
      <p:sp>
        <p:nvSpPr>
          <p:cNvPr id="5094" name="TextBox 5093"/>
          <p:cNvSpPr txBox="1"/>
          <p:nvPr/>
        </p:nvSpPr>
        <p:spPr>
          <a:xfrm>
            <a:off x="15873984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12/14 ~</a:t>
            </a:r>
            <a:endParaRPr lang="ko-KR" altLang="en-US" sz="1050"/>
          </a:p>
        </p:txBody>
      </p:sp>
      <p:sp>
        <p:nvSpPr>
          <p:cNvPr id="5095" name="TextBox 5094"/>
          <p:cNvSpPr txBox="1"/>
          <p:nvPr/>
        </p:nvSpPr>
        <p:spPr>
          <a:xfrm>
            <a:off x="15873984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최종보고서(12/18)</a:t>
            </a:r>
            <a:endParaRPr lang="ko-KR" altLang="en-US" sz="1150"/>
          </a:p>
        </p:txBody>
      </p:sp>
      <p:cxnSp>
        <p:nvCxnSpPr>
          <p:cNvPr id="5096" name="Connector 5095"/>
          <p:cNvCxnSpPr/>
          <p:nvPr/>
        </p:nvCxnSpPr>
        <p:spPr>
          <a:xfrm>
            <a:off x="10808208" y="6766560"/>
            <a:ext cx="0" cy="1719072"/>
          </a:xfrm>
          <a:prstGeom prst="line">
            <a:avLst/>
          </a:prstGeom>
          <a:ln w="25400">
            <a:solidFill>
              <a:srgbClr val="2E7D4F"/>
            </a:solidFill>
            <a:prstDash val="dash"/>
          </a:ln>
        </p:spPr>
      </p:cxnSp>
      <p:sp>
        <p:nvSpPr>
          <p:cNvPr id="5097" name="Rounded Rectangle 5096"/>
          <p:cNvSpPr/>
          <p:nvPr/>
        </p:nvSpPr>
        <p:spPr>
          <a:xfrm>
            <a:off x="822960" y="8613648"/>
            <a:ext cx="16642080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98" name="TextBox 5097"/>
          <p:cNvSpPr txBox="1"/>
          <p:nvPr/>
        </p:nvSpPr>
        <p:spPr>
          <a:xfrm>
            <a:off x="1051560" y="8613648"/>
            <a:ext cx="1627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스프린트 주기  </a:t>
            </a: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월: 백로그에서 이번 주 목표 선정 → 개발·모듈별 단위 시험 → 금: 주간 개발 보고서·면담(리뷰) → 회고, </a:t>
            </a:r>
            <a:r>
              <a:rPr lang="ko-KR" altLang="en-US" sz="1250" b="0" dirty="0" err="1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백로그</a:t>
            </a: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 갱신</a:t>
            </a:r>
            <a:endParaRPr lang="ko-KR" altLang="en-US" sz="1250" strike="sngStrik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F442C-D559-A8B0-9478-738734464D1C}"/>
              </a:ext>
            </a:extLst>
          </p:cNvPr>
          <p:cNvSpPr txBox="1"/>
          <p:nvPr/>
        </p:nvSpPr>
        <p:spPr>
          <a:xfrm>
            <a:off x="5669280" y="2596896"/>
            <a:ext cx="4663440" cy="3291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lang="ko-KR" altLang="en-US" sz="1100">
                <a:solidFill>
                  <a:srgbClr val="6B7080"/>
                </a:solidFill>
                <a:latin typeface="210 OmniGothic 030"/>
                <a:ea typeface="210 OmniGothic 030"/>
              </a:rPr>
              <a:t>※ CBD (Component Based Development)</a:t>
            </a:r>
          </a:p>
        </p:txBody>
      </p:sp>
      <p:sp>
        <p:nvSpPr>
          <p:cNvPr id="5099" name="Rounded Rectangle 5050"/>
          <p:cNvSpPr/>
          <p:nvPr/>
        </p:nvSpPr>
        <p:spPr>
          <a:xfrm>
            <a:off x="14805660" y="5449824"/>
            <a:ext cx="2641092" cy="713232"/>
          </a:xfrm>
          <a:prstGeom prst="roundRect">
            <a:avLst>
              <a:gd name="adj" fmla="val 12820"/>
            </a:avLst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100" name="TextBox 5051"/>
          <p:cNvSpPr txBox="1"/>
          <p:nvPr/>
        </p:nvSpPr>
        <p:spPr>
          <a:xfrm>
            <a:off x="14942819" y="5495544"/>
            <a:ext cx="22753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6차 · 10/13</a:t>
            </a:r>
            <a:endParaRPr lang="ko-KR" altLang="en-US" sz="1200"/>
          </a:p>
        </p:txBody>
      </p:sp>
      <p:sp>
        <p:nvSpPr>
          <p:cNvPr id="5101" name="TextBox 5052"/>
          <p:cNvSpPr txBox="1"/>
          <p:nvPr/>
        </p:nvSpPr>
        <p:spPr>
          <a:xfrm>
            <a:off x="14942819" y="5779008"/>
            <a:ext cx="2275332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검증 결과 반영·신고자 정보</a:t>
            </a:r>
            <a:endParaRPr lang="ko-KR" altLang="en-US" sz="1350"/>
          </a:p>
        </p:txBody>
      </p:sp>
      <p:sp>
        <p:nvSpPr>
          <p:cNvPr id="5102" name="TextBox 5101"/>
          <p:cNvSpPr txBox="1"/>
          <p:nvPr/>
        </p:nvSpPr>
        <p:spPr>
          <a:xfrm>
            <a:off x="822960" y="173736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애자일 적용과 로드맵 — </a:t>
            </a:r>
            <a:r>
              <a:rPr lang="ko-KR" altLang="en-US" sz="240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1주 스프린트 5회</a:t>
            </a:r>
            <a:r>
              <a:rPr lang="ko-KR" altLang="en-US" sz="2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 12주차 개발 완료</a:t>
            </a:r>
            <a:endParaRPr lang="ko-KR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3549</Words>
  <Application>Microsoft Office PowerPoint</Application>
  <PresentationFormat>사용자 지정</PresentationFormat>
  <Paragraphs>711</Paragraphs>
  <Slides>37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8" baseType="lpstr">
      <vt:lpstr>210 OmniGothic 050</vt:lpstr>
      <vt:lpstr>Arial</vt:lpstr>
      <vt:lpstr>Wingdings</vt:lpstr>
      <vt:lpstr>210 OmniGothic 030</vt:lpstr>
      <vt:lpstr>Pretendard Bold</vt:lpstr>
      <vt:lpstr>Pretendard Light</vt:lpstr>
      <vt:lpstr>맑은 고딕</vt:lpstr>
      <vt:lpstr>Calibri</vt:lpstr>
      <vt:lpstr>맑은 고딕</vt:lpstr>
      <vt:lpstr>210 OmniGothic 040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PARKER</cp:lastModifiedBy>
  <cp:revision>68</cp:revision>
  <dcterms:created xsi:type="dcterms:W3CDTF">2006-08-16T00:00:00Z</dcterms:created>
  <dcterms:modified xsi:type="dcterms:W3CDTF">2026-09-17T04:44:59Z</dcterms:modified>
</cp:coreProperties>
</file>